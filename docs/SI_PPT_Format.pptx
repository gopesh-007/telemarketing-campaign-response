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3" r:id="rId7"/>
    <p:sldId id="264"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65" r:id="rId22"/>
    <p:sldId id="282" r:id="rId23"/>
    <p:sldId id="266" r:id="rId24"/>
    <p:sldId id="283" r:id="rId25"/>
    <p:sldId id="284" r:id="rId26"/>
    <p:sldId id="267" r:id="rId27"/>
    <p:sldId id="268"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oJg2CYz7Sh0zFD4htVhxDlY7t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4AB5D9-584E-41A0-AD20-9381D394C1DA}">
  <a:tblStyle styleId="{644AB5D9-584E-41A0-AD20-9381D394C1D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1FA"/>
          </a:solidFill>
        </a:fill>
      </a:tcStyle>
    </a:wholeTbl>
    <a:band1H>
      <a:tcTxStyle/>
      <a:tcStyle>
        <a:tcBdr/>
        <a:fill>
          <a:solidFill>
            <a:srgbClr val="CBE2F5"/>
          </a:solidFill>
        </a:fill>
      </a:tcStyle>
    </a:band1H>
    <a:band2H>
      <a:tcTxStyle/>
      <a:tcStyle>
        <a:tcBdr/>
      </a:tcStyle>
    </a:band2H>
    <a:band1V>
      <a:tcTxStyle/>
      <a:tcStyle>
        <a:tcBdr/>
        <a:fill>
          <a:solidFill>
            <a:srgbClr val="CBE2F5"/>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99"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32267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035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9848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6993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3521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3340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4449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3809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6649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7150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4082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23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18"/>
        <p:cNvGrpSpPr/>
        <p:nvPr/>
      </p:nvGrpSpPr>
      <p:grpSpPr>
        <a:xfrm>
          <a:off x="0" y="0"/>
          <a:ext cx="0" cy="0"/>
          <a:chOff x="0" y="0"/>
          <a:chExt cx="0" cy="0"/>
        </a:xfrm>
      </p:grpSpPr>
      <p:sp>
        <p:nvSpPr>
          <p:cNvPr id="19" name="Google Shape;19;p1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15"/>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5"/>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23" name="Google Shape;23;p1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15"/>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0" name="Google Shape;30;p1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3"/>
        <p:cNvGrpSpPr/>
        <p:nvPr/>
      </p:nvGrpSpPr>
      <p:grpSpPr>
        <a:xfrm>
          <a:off x="0" y="0"/>
          <a:ext cx="0" cy="0"/>
          <a:chOff x="0" y="0"/>
          <a:chExt cx="0" cy="0"/>
        </a:xfrm>
      </p:grpSpPr>
      <p:sp>
        <p:nvSpPr>
          <p:cNvPr id="34" name="Google Shape;34;p17"/>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17"/>
          <p:cNvSpPr/>
          <p:nvPr/>
        </p:nvSpPr>
        <p:spPr>
          <a:xfrm>
            <a:off x="1" y="6334316"/>
            <a:ext cx="12192000" cy="6648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17"/>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7"/>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38" name="Google Shape;38;p1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1" name="Google Shape;41;p17"/>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1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8"/>
          <p:cNvSpPr txBox="1">
            <a:spLocks noGrp="1"/>
          </p:cNvSpPr>
          <p:nvPr>
            <p:ph type="body" idx="1"/>
          </p:nvPr>
        </p:nvSpPr>
        <p:spPr>
          <a:xfrm>
            <a:off x="1097280" y="1845734"/>
            <a:ext cx="4937760" cy="4023359"/>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5" name="Google Shape;45;p18"/>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6" name="Google Shape;46;p1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2" name="Google Shape;52;p19"/>
          <p:cNvSpPr txBox="1">
            <a:spLocks noGrp="1"/>
          </p:cNvSpPr>
          <p:nvPr>
            <p:ph type="body" idx="2"/>
          </p:nvPr>
        </p:nvSpPr>
        <p:spPr>
          <a:xfrm>
            <a:off x="1097280" y="2582335"/>
            <a:ext cx="4937760" cy="32867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3" name="Google Shape;53;p19"/>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4" name="Google Shape;54;p19"/>
          <p:cNvSpPr txBox="1">
            <a:spLocks noGrp="1"/>
          </p:cNvSpPr>
          <p:nvPr>
            <p:ph type="body" idx="4"/>
          </p:nvPr>
        </p:nvSpPr>
        <p:spPr>
          <a:xfrm>
            <a:off x="6217920" y="2582334"/>
            <a:ext cx="4937760" cy="32867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5" name="Google Shape;55;p1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3"/>
        <p:cNvGrpSpPr/>
        <p:nvPr/>
      </p:nvGrpSpPr>
      <p:grpSpPr>
        <a:xfrm>
          <a:off x="0" y="0"/>
          <a:ext cx="0" cy="0"/>
          <a:chOff x="0" y="0"/>
          <a:chExt cx="0" cy="0"/>
        </a:xfrm>
      </p:grpSpPr>
      <p:sp>
        <p:nvSpPr>
          <p:cNvPr id="64" name="Google Shape;64;p21"/>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1"/>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9"/>
        <p:cNvGrpSpPr/>
        <p:nvPr/>
      </p:nvGrpSpPr>
      <p:grpSpPr>
        <a:xfrm>
          <a:off x="0" y="0"/>
          <a:ext cx="0" cy="0"/>
          <a:chOff x="0" y="0"/>
          <a:chExt cx="0" cy="0"/>
        </a:xfrm>
      </p:grpSpPr>
      <p:sp>
        <p:nvSpPr>
          <p:cNvPr id="70" name="Google Shape;70;p22"/>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2"/>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2"/>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22"/>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4" name="Google Shape;74;p22"/>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5" name="Google Shape;75;p22"/>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23"/>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3"/>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3"/>
          <p:cNvSpPr txBox="1">
            <a:spLocks noGrp="1"/>
          </p:cNvSpPr>
          <p:nvPr>
            <p:ph type="title"/>
          </p:nvPr>
        </p:nvSpPr>
        <p:spPr>
          <a:xfrm>
            <a:off x="1097280" y="5074920"/>
            <a:ext cx="10113645"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23"/>
          <p:cNvSpPr>
            <a:spLocks noGrp="1"/>
          </p:cNvSpPr>
          <p:nvPr>
            <p:ph type="pic" idx="2"/>
          </p:nvPr>
        </p:nvSpPr>
        <p:spPr>
          <a:xfrm>
            <a:off x="15" y="0"/>
            <a:ext cx="12191985" cy="4915076"/>
          </a:xfrm>
          <a:prstGeom prst="rect">
            <a:avLst/>
          </a:prstGeom>
          <a:solidFill>
            <a:srgbClr val="BECAD4"/>
          </a:solidFill>
          <a:ln>
            <a:noFill/>
          </a:ln>
        </p:spPr>
      </p:sp>
      <p:sp>
        <p:nvSpPr>
          <p:cNvPr id="83" name="Google Shape;83;p23"/>
          <p:cNvSpPr txBox="1">
            <a:spLocks noGrp="1"/>
          </p:cNvSpPr>
          <p:nvPr>
            <p:ph type="body" idx="1"/>
          </p:nvPr>
        </p:nvSpPr>
        <p:spPr>
          <a:xfrm>
            <a:off x="1097280" y="5907024"/>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4" name="Google Shape;84;p2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2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24"/>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0" name="Google Shape;90;p2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2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5"/>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5"/>
          <p:cNvSpPr txBox="1">
            <a:spLocks noGrp="1"/>
          </p:cNvSpPr>
          <p:nvPr>
            <p:ph type="body" idx="1"/>
          </p:nvPr>
        </p:nvSpPr>
        <p:spPr>
          <a:xfrm rot="5400000">
            <a:off x="1825401" y="-574899"/>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8" name="Google Shape;98;p2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14"/>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p:nvPr/>
        </p:nvSpPr>
        <p:spPr>
          <a:xfrm>
            <a:off x="0" y="116769"/>
            <a:ext cx="12192000" cy="200054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3200" b="1" i="0" u="none"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3200" b="1" i="0" u="none" strike="noStrike" cap="none">
                <a:solidFill>
                  <a:schemeClr val="dk1"/>
                </a:solidFill>
                <a:latin typeface="Times New Roman"/>
                <a:ea typeface="Times New Roman"/>
                <a:cs typeface="Times New Roman"/>
                <a:sym typeface="Times New Roman"/>
              </a:rPr>
              <a:t>Gujarat Technological University</a:t>
            </a:r>
            <a:endParaRPr/>
          </a:p>
          <a:p>
            <a:pPr marL="0" marR="0" lvl="0" indent="0" algn="ctr" rtl="0">
              <a:spcBef>
                <a:spcPts val="0"/>
              </a:spcBef>
              <a:spcAft>
                <a:spcPts val="0"/>
              </a:spcAft>
              <a:buNone/>
            </a:pPr>
            <a:endParaRPr sz="3200" b="1" i="0" u="none"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800" b="1" i="0" u="none" strike="noStrike" cap="none">
                <a:solidFill>
                  <a:srgbClr val="1F497D"/>
                </a:solidFill>
                <a:latin typeface="Times New Roman"/>
                <a:ea typeface="Times New Roman"/>
                <a:cs typeface="Times New Roman"/>
                <a:sym typeface="Times New Roman"/>
              </a:rPr>
              <a:t>NEW L. J. INSTITUTE OF ENGINEERING AND TECHNOLOGY</a:t>
            </a:r>
            <a:endParaRPr sz="2800" b="0" i="0" u="none" strike="noStrike" cap="none">
              <a:solidFill>
                <a:schemeClr val="dk1"/>
              </a:solidFill>
              <a:latin typeface="Times New Roman"/>
              <a:ea typeface="Times New Roman"/>
              <a:cs typeface="Times New Roman"/>
              <a:sym typeface="Times New Roman"/>
            </a:endParaRPr>
          </a:p>
        </p:txBody>
      </p:sp>
      <p:sp>
        <p:nvSpPr>
          <p:cNvPr id="106" name="Google Shape;106;p1"/>
          <p:cNvSpPr/>
          <p:nvPr/>
        </p:nvSpPr>
        <p:spPr>
          <a:xfrm>
            <a:off x="1139965" y="3678039"/>
            <a:ext cx="9938100"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800" b="1" i="0" u="none" strike="noStrike" cap="none" dirty="0">
                <a:solidFill>
                  <a:srgbClr val="1F497D"/>
                </a:solidFill>
                <a:latin typeface="Times New Roman"/>
                <a:ea typeface="Times New Roman"/>
                <a:cs typeface="Times New Roman"/>
                <a:sym typeface="Times New Roman"/>
              </a:rPr>
              <a:t>Predicting Customer Response to Telemarketing Campaigns</a:t>
            </a:r>
            <a:endParaRPr sz="2800" b="0" i="0" u="none" strike="noStrike" cap="none" dirty="0">
              <a:solidFill>
                <a:srgbClr val="000000"/>
              </a:solidFill>
              <a:latin typeface="Arial"/>
              <a:ea typeface="Arial"/>
              <a:cs typeface="Arial"/>
              <a:sym typeface="Arial"/>
            </a:endParaRPr>
          </a:p>
        </p:txBody>
      </p:sp>
      <p:sp>
        <p:nvSpPr>
          <p:cNvPr id="107" name="Google Shape;107;p1"/>
          <p:cNvSpPr/>
          <p:nvPr/>
        </p:nvSpPr>
        <p:spPr>
          <a:xfrm>
            <a:off x="0" y="5028722"/>
            <a:ext cx="3825025" cy="1323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rgbClr val="0070C0"/>
                </a:solidFill>
                <a:latin typeface="Times New Roman"/>
                <a:ea typeface="Times New Roman"/>
                <a:cs typeface="Times New Roman"/>
                <a:sym typeface="Times New Roman"/>
              </a:rPr>
              <a:t>HOD NAME:</a:t>
            </a:r>
          </a:p>
          <a:p>
            <a:pPr marL="0" marR="0" lvl="0" indent="0" algn="l" rtl="0">
              <a:spcBef>
                <a:spcPts val="0"/>
              </a:spcBef>
              <a:spcAft>
                <a:spcPts val="0"/>
              </a:spcAft>
              <a:buNone/>
            </a:pPr>
            <a:r>
              <a:rPr lang="en-US" sz="2000" b="1" dirty="0">
                <a:solidFill>
                  <a:srgbClr val="0070C0"/>
                </a:solidFill>
                <a:latin typeface="Times New Roman"/>
                <a:ea typeface="Times New Roman"/>
                <a:cs typeface="Times New Roman"/>
                <a:sym typeface="Times New Roman"/>
              </a:rPr>
              <a:t>Dr. Gayatri </a:t>
            </a:r>
            <a:r>
              <a:rPr lang="en-US" sz="2000" b="1" dirty="0" err="1">
                <a:solidFill>
                  <a:srgbClr val="0070C0"/>
                </a:solidFill>
                <a:latin typeface="Times New Roman"/>
                <a:ea typeface="Times New Roman"/>
                <a:cs typeface="Times New Roman"/>
                <a:sym typeface="Times New Roman"/>
              </a:rPr>
              <a:t>Pandi</a:t>
            </a:r>
            <a:r>
              <a:rPr lang="en-US" sz="2000" b="1" i="0" u="none" strike="noStrike" cap="none" dirty="0">
                <a:solidFill>
                  <a:srgbClr val="0070C0"/>
                </a:solidFill>
                <a:latin typeface="Times New Roman"/>
                <a:ea typeface="Times New Roman"/>
                <a:cs typeface="Times New Roman"/>
                <a:sym typeface="Times New Roman"/>
              </a:rPr>
              <a:t> </a:t>
            </a:r>
            <a:endParaRPr dirty="0"/>
          </a:p>
          <a:p>
            <a:pPr marL="0" marR="0" lvl="0" indent="0" algn="l" rtl="0">
              <a:spcBef>
                <a:spcPts val="0"/>
              </a:spcBef>
              <a:spcAft>
                <a:spcPts val="0"/>
              </a:spcAft>
              <a:buNone/>
            </a:pPr>
            <a:r>
              <a:rPr lang="en-US" sz="2000" b="1" dirty="0">
                <a:solidFill>
                  <a:srgbClr val="0070C0"/>
                </a:solidFill>
                <a:latin typeface="Times New Roman"/>
                <a:ea typeface="Times New Roman"/>
                <a:cs typeface="Times New Roman"/>
                <a:sym typeface="Times New Roman"/>
              </a:rPr>
              <a:t>CSE&amp;IT, </a:t>
            </a:r>
            <a:endParaRPr dirty="0"/>
          </a:p>
          <a:p>
            <a:pPr marL="0" marR="0" lvl="0" indent="0" algn="l" rtl="0">
              <a:spcBef>
                <a:spcPts val="0"/>
              </a:spcBef>
              <a:spcAft>
                <a:spcPts val="0"/>
              </a:spcAft>
              <a:buNone/>
            </a:pPr>
            <a:r>
              <a:rPr lang="en-US" sz="2000" b="1" dirty="0">
                <a:solidFill>
                  <a:srgbClr val="0070C0"/>
                </a:solidFill>
                <a:latin typeface="Times New Roman"/>
                <a:ea typeface="Times New Roman"/>
                <a:cs typeface="Times New Roman"/>
                <a:sym typeface="Times New Roman"/>
              </a:rPr>
              <a:t>NEW LJIET.</a:t>
            </a:r>
            <a:endParaRPr dirty="0"/>
          </a:p>
        </p:txBody>
      </p:sp>
      <p:pic>
        <p:nvPicPr>
          <p:cNvPr id="108" name="Google Shape;108;p1" descr="Gujarat Technological University - Wikipedia"/>
          <p:cNvPicPr preferRelativeResize="0"/>
          <p:nvPr/>
        </p:nvPicPr>
        <p:blipFill rotWithShape="1">
          <a:blip r:embed="rId3">
            <a:alphaModFix/>
          </a:blip>
          <a:srcRect/>
          <a:stretch/>
        </p:blipFill>
        <p:spPr>
          <a:xfrm>
            <a:off x="937296" y="164300"/>
            <a:ext cx="1219487" cy="1256714"/>
          </a:xfrm>
          <a:prstGeom prst="rect">
            <a:avLst/>
          </a:prstGeom>
          <a:noFill/>
          <a:ln>
            <a:noFill/>
          </a:ln>
        </p:spPr>
      </p:pic>
      <p:sp>
        <p:nvSpPr>
          <p:cNvPr id="109" name="Google Shape;109;p1"/>
          <p:cNvSpPr/>
          <p:nvPr/>
        </p:nvSpPr>
        <p:spPr>
          <a:xfrm>
            <a:off x="2" y="6434880"/>
            <a:ext cx="12191998"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chemeClr val="lt1"/>
                </a:solidFill>
                <a:latin typeface="Times New Roman"/>
                <a:ea typeface="Times New Roman"/>
                <a:cs typeface="Times New Roman"/>
                <a:sym typeface="Times New Roman"/>
              </a:rPr>
              <a:t>Semester:  7</a:t>
            </a:r>
            <a:r>
              <a:rPr lang="en-US" sz="1800" b="1" baseline="30000" dirty="0">
                <a:solidFill>
                  <a:schemeClr val="lt1"/>
                </a:solidFill>
                <a:latin typeface="Times New Roman"/>
                <a:ea typeface="Times New Roman"/>
                <a:cs typeface="Times New Roman"/>
                <a:sym typeface="Times New Roman"/>
              </a:rPr>
              <a:t>TH</a:t>
            </a:r>
            <a:r>
              <a:rPr lang="en-US" sz="1800" b="1" dirty="0">
                <a:solidFill>
                  <a:schemeClr val="lt1"/>
                </a:solidFill>
                <a:latin typeface="Times New Roman"/>
                <a:ea typeface="Times New Roman"/>
                <a:cs typeface="Times New Roman"/>
                <a:sym typeface="Times New Roman"/>
              </a:rPr>
              <a:t> 				                                                       		DEPARTMENT OF IT </a:t>
            </a:r>
            <a:endParaRPr dirty="0"/>
          </a:p>
        </p:txBody>
      </p:sp>
      <p:sp>
        <p:nvSpPr>
          <p:cNvPr id="110" name="Google Shape;110;p1"/>
          <p:cNvSpPr txBox="1"/>
          <p:nvPr/>
        </p:nvSpPr>
        <p:spPr>
          <a:xfrm>
            <a:off x="3" y="2132129"/>
            <a:ext cx="1219199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chemeClr val="dk1"/>
                </a:solidFill>
                <a:latin typeface="Times New Roman"/>
                <a:ea typeface="Times New Roman"/>
                <a:cs typeface="Times New Roman"/>
                <a:sym typeface="Times New Roman"/>
              </a:rPr>
              <a:t>DEPARTMENT OF INFORMATION TECHNOLOGY/COMPUTER SCIENCE AND ENG.  </a:t>
            </a:r>
            <a:endParaRPr dirty="0"/>
          </a:p>
        </p:txBody>
      </p:sp>
      <p:sp>
        <p:nvSpPr>
          <p:cNvPr id="111" name="Google Shape;111;p1"/>
          <p:cNvSpPr txBox="1"/>
          <p:nvPr/>
        </p:nvSpPr>
        <p:spPr>
          <a:xfrm>
            <a:off x="13023" y="2633453"/>
            <a:ext cx="1219199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chemeClr val="dk1"/>
                </a:solidFill>
                <a:latin typeface="Times New Roman"/>
                <a:ea typeface="Times New Roman"/>
                <a:cs typeface="Times New Roman"/>
                <a:sym typeface="Times New Roman"/>
              </a:rPr>
              <a:t>ACADEMIC YEAR – 2024-2025</a:t>
            </a:r>
            <a:endParaRPr dirty="0"/>
          </a:p>
        </p:txBody>
      </p:sp>
      <p:sp>
        <p:nvSpPr>
          <p:cNvPr id="112" name="Google Shape;112;p1"/>
          <p:cNvSpPr txBox="1"/>
          <p:nvPr/>
        </p:nvSpPr>
        <p:spPr>
          <a:xfrm>
            <a:off x="13011" y="3010679"/>
            <a:ext cx="1219200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chemeClr val="dk1"/>
                </a:solidFill>
                <a:latin typeface="Times New Roman"/>
                <a:ea typeface="Times New Roman"/>
                <a:cs typeface="Times New Roman"/>
                <a:sym typeface="Times New Roman"/>
              </a:rPr>
              <a:t>Summer Internship  (3170001)</a:t>
            </a:r>
            <a:endParaRPr dirty="0"/>
          </a:p>
        </p:txBody>
      </p:sp>
      <p:sp>
        <p:nvSpPr>
          <p:cNvPr id="113" name="Google Shape;113;p1"/>
          <p:cNvSpPr/>
          <p:nvPr/>
        </p:nvSpPr>
        <p:spPr>
          <a:xfrm>
            <a:off x="8214577" y="4945964"/>
            <a:ext cx="3825025" cy="1323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PREPARED BY,</a:t>
            </a:r>
            <a:endParaRPr dirty="0"/>
          </a:p>
          <a:p>
            <a:pPr marL="0" marR="0" lvl="0" indent="0" algn="l" rtl="0">
              <a:spcBef>
                <a:spcPts val="0"/>
              </a:spcBef>
              <a:spcAft>
                <a:spcPts val="0"/>
              </a:spcAft>
              <a:buNone/>
            </a:pPr>
            <a:endParaRPr sz="20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GB" sz="2000" b="1" dirty="0" err="1">
                <a:solidFill>
                  <a:srgbClr val="0070C0"/>
                </a:solidFill>
                <a:latin typeface="Times New Roman"/>
                <a:ea typeface="Times New Roman"/>
                <a:cs typeface="Times New Roman"/>
                <a:sym typeface="Times New Roman"/>
              </a:rPr>
              <a:t>Gopeshkumar</a:t>
            </a:r>
            <a:r>
              <a:rPr lang="en-GB" sz="2000" b="1" dirty="0">
                <a:solidFill>
                  <a:srgbClr val="0070C0"/>
                </a:solidFill>
                <a:latin typeface="Times New Roman"/>
                <a:ea typeface="Times New Roman"/>
                <a:cs typeface="Times New Roman"/>
                <a:sym typeface="Times New Roman"/>
              </a:rPr>
              <a:t> Rabadiya</a:t>
            </a:r>
            <a:endParaRPr dirty="0"/>
          </a:p>
          <a:p>
            <a:pPr marL="0" marR="0" lvl="0" indent="0" algn="l" rtl="0">
              <a:spcBef>
                <a:spcPts val="0"/>
              </a:spcBef>
              <a:spcAft>
                <a:spcPts val="0"/>
              </a:spcAft>
              <a:buNone/>
            </a:pPr>
            <a:r>
              <a:rPr lang="en-US" sz="2000" b="1" dirty="0">
                <a:solidFill>
                  <a:srgbClr val="0070C0"/>
                </a:solidFill>
                <a:latin typeface="Times New Roman"/>
                <a:ea typeface="Times New Roman"/>
                <a:cs typeface="Times New Roman"/>
                <a:sym typeface="Times New Roman"/>
              </a:rPr>
              <a:t>211430116017</a:t>
            </a:r>
            <a:endParaRPr dirty="0"/>
          </a:p>
        </p:txBody>
      </p:sp>
      <p:sp>
        <p:nvSpPr>
          <p:cNvPr id="114" name="Google Shape;114;p1"/>
          <p:cNvSpPr/>
          <p:nvPr/>
        </p:nvSpPr>
        <p:spPr>
          <a:xfrm>
            <a:off x="4113800" y="5228817"/>
            <a:ext cx="3825025"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rgbClr val="0070C0"/>
                </a:solidFill>
                <a:latin typeface="Times New Roman"/>
                <a:ea typeface="Times New Roman"/>
                <a:cs typeface="Times New Roman"/>
                <a:sym typeface="Times New Roman"/>
              </a:rPr>
              <a:t>GUIDED BY,</a:t>
            </a:r>
            <a:endParaRPr dirty="0"/>
          </a:p>
          <a:p>
            <a:pPr marL="0" marR="0" lvl="0" indent="0" algn="l" rtl="0">
              <a:spcBef>
                <a:spcPts val="0"/>
              </a:spcBef>
              <a:spcAft>
                <a:spcPts val="0"/>
              </a:spcAft>
              <a:buNone/>
            </a:pPr>
            <a:r>
              <a:rPr lang="en-US" sz="2000" b="1" dirty="0">
                <a:solidFill>
                  <a:srgbClr val="0070C0"/>
                </a:solidFill>
                <a:latin typeface="Times New Roman"/>
                <a:ea typeface="Times New Roman"/>
                <a:cs typeface="Times New Roman"/>
                <a:sym typeface="Times New Roman"/>
              </a:rPr>
              <a:t>Roshni </a:t>
            </a:r>
            <a:r>
              <a:rPr lang="en-US" sz="2000" b="1" dirty="0" err="1">
                <a:solidFill>
                  <a:srgbClr val="0070C0"/>
                </a:solidFill>
                <a:latin typeface="Times New Roman"/>
                <a:ea typeface="Times New Roman"/>
                <a:cs typeface="Times New Roman"/>
                <a:sym typeface="Times New Roman"/>
              </a:rPr>
              <a:t>Mandli</a:t>
            </a:r>
            <a:endParaRPr sz="2000" dirty="0">
              <a:solidFill>
                <a:schemeClr val="dk1"/>
              </a:solidFill>
              <a:latin typeface="Times New Roman"/>
              <a:ea typeface="Times New Roman"/>
              <a:cs typeface="Times New Roman"/>
              <a:sym typeface="Times New Roman"/>
            </a:endParaRPr>
          </a:p>
        </p:txBody>
      </p:sp>
      <p:pic>
        <p:nvPicPr>
          <p:cNvPr id="115" name="Google Shape;115;p1"/>
          <p:cNvPicPr preferRelativeResize="0"/>
          <p:nvPr/>
        </p:nvPicPr>
        <p:blipFill rotWithShape="1">
          <a:blip r:embed="rId4">
            <a:alphaModFix/>
          </a:blip>
          <a:srcRect t="5944" b="11187"/>
          <a:stretch/>
        </p:blipFill>
        <p:spPr>
          <a:xfrm>
            <a:off x="9698990" y="53788"/>
            <a:ext cx="1816100" cy="15049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type="title"/>
          </p:nvPr>
        </p:nvSpPr>
        <p:spPr>
          <a:xfrm>
            <a:off x="1194431" y="745134"/>
            <a:ext cx="10047310" cy="562712"/>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dk1"/>
              </a:buClr>
              <a:buSzPts val="3200"/>
              <a:buFont typeface="Times New Roman"/>
              <a:buNone/>
            </a:pPr>
            <a:r>
              <a:rPr lang="en-US" sz="3200" b="1">
                <a:solidFill>
                  <a:schemeClr val="dk1"/>
                </a:solidFill>
                <a:latin typeface="Times New Roman"/>
                <a:ea typeface="Times New Roman"/>
                <a:cs typeface="Times New Roman"/>
                <a:sym typeface="Times New Roman"/>
              </a:rPr>
              <a:t>Outline</a:t>
            </a:r>
            <a:endParaRPr/>
          </a:p>
        </p:txBody>
      </p:sp>
      <p:sp>
        <p:nvSpPr>
          <p:cNvPr id="121" name="Google Shape;121;p2"/>
          <p:cNvSpPr txBox="1">
            <a:spLocks noGrp="1"/>
          </p:cNvSpPr>
          <p:nvPr>
            <p:ph type="body" idx="1"/>
          </p:nvPr>
        </p:nvSpPr>
        <p:spPr>
          <a:xfrm>
            <a:off x="1194432" y="2035277"/>
            <a:ext cx="10047310" cy="4077590"/>
          </a:xfrm>
          <a:prstGeom prst="rect">
            <a:avLst/>
          </a:prstGeom>
          <a:noFill/>
          <a:ln>
            <a:noFill/>
          </a:ln>
        </p:spPr>
        <p:txBody>
          <a:bodyPr spcFirstLastPara="1" wrap="square" lIns="0" tIns="45700" rIns="0" bIns="45700" anchor="t" anchorCtr="0">
            <a:noAutofit/>
          </a:bodyPr>
          <a:lstStyle/>
          <a:p>
            <a:pPr marL="457200" lvl="0" indent="-457200" algn="just" rtl="0">
              <a:lnSpc>
                <a:spcPct val="100000"/>
              </a:lnSpc>
              <a:spcBef>
                <a:spcPts val="0"/>
              </a:spcBef>
              <a:spcAft>
                <a:spcPts val="0"/>
              </a:spcAft>
              <a:buSzPts val="2000"/>
              <a:buFont typeface="Calibri"/>
              <a:buAutoNum type="arabicPeriod"/>
            </a:pPr>
            <a:r>
              <a:rPr lang="en-US" b="1" dirty="0">
                <a:solidFill>
                  <a:schemeClr val="dk1"/>
                </a:solidFill>
                <a:latin typeface="Times New Roman"/>
                <a:ea typeface="Times New Roman"/>
                <a:cs typeface="Times New Roman"/>
                <a:sym typeface="Times New Roman"/>
              </a:rPr>
              <a:t>Objective </a:t>
            </a:r>
            <a:endParaRPr dirty="0"/>
          </a:p>
          <a:p>
            <a:pPr marL="457200" lvl="0" indent="-457200" algn="just" rtl="0">
              <a:lnSpc>
                <a:spcPct val="100000"/>
              </a:lnSpc>
              <a:spcBef>
                <a:spcPts val="1400"/>
              </a:spcBef>
              <a:spcAft>
                <a:spcPts val="0"/>
              </a:spcAft>
              <a:buSzPts val="2000"/>
              <a:buFont typeface="Calibri"/>
              <a:buAutoNum type="arabicPeriod"/>
            </a:pPr>
            <a:r>
              <a:rPr lang="en-US" b="1" dirty="0">
                <a:solidFill>
                  <a:schemeClr val="dk1"/>
                </a:solidFill>
                <a:latin typeface="Times New Roman"/>
                <a:ea typeface="Times New Roman"/>
                <a:cs typeface="Times New Roman"/>
                <a:sym typeface="Times New Roman"/>
              </a:rPr>
              <a:t>Introduction</a:t>
            </a:r>
            <a:endParaRPr dirty="0"/>
          </a:p>
          <a:p>
            <a:pPr marL="457200" lvl="0" indent="-457200" algn="just" rtl="0">
              <a:lnSpc>
                <a:spcPct val="100000"/>
              </a:lnSpc>
              <a:spcBef>
                <a:spcPts val="1400"/>
              </a:spcBef>
              <a:spcAft>
                <a:spcPts val="0"/>
              </a:spcAft>
              <a:buSzPts val="2000"/>
              <a:buFont typeface="Calibri"/>
              <a:buAutoNum type="arabicPeriod"/>
            </a:pPr>
            <a:r>
              <a:rPr lang="en-US" b="1" dirty="0">
                <a:solidFill>
                  <a:schemeClr val="dk1"/>
                </a:solidFill>
                <a:latin typeface="Times New Roman"/>
                <a:ea typeface="Times New Roman"/>
                <a:cs typeface="Times New Roman"/>
                <a:sym typeface="Times New Roman"/>
              </a:rPr>
              <a:t>Role and Responsibilities </a:t>
            </a:r>
            <a:r>
              <a:rPr lang="en-US" b="1">
                <a:solidFill>
                  <a:schemeClr val="dk1"/>
                </a:solidFill>
                <a:latin typeface="Times New Roman"/>
                <a:ea typeface="Times New Roman"/>
                <a:cs typeface="Times New Roman"/>
                <a:sym typeface="Times New Roman"/>
              </a:rPr>
              <a:t>During Internship</a:t>
            </a:r>
            <a:endParaRPr/>
          </a:p>
          <a:p>
            <a:pPr marL="457200" lvl="0" indent="-457200" algn="just" rtl="0">
              <a:lnSpc>
                <a:spcPct val="100000"/>
              </a:lnSpc>
              <a:spcBef>
                <a:spcPts val="1400"/>
              </a:spcBef>
              <a:spcAft>
                <a:spcPts val="0"/>
              </a:spcAft>
              <a:buSzPts val="2000"/>
              <a:buFont typeface="Calibri"/>
              <a:buAutoNum type="arabicPeriod"/>
            </a:pPr>
            <a:r>
              <a:rPr lang="en-US" b="1" dirty="0">
                <a:solidFill>
                  <a:schemeClr val="dk1"/>
                </a:solidFill>
                <a:latin typeface="Times New Roman"/>
                <a:ea typeface="Times New Roman"/>
                <a:cs typeface="Times New Roman"/>
                <a:sym typeface="Times New Roman"/>
              </a:rPr>
              <a:t>Internship Work</a:t>
            </a:r>
            <a:endParaRPr dirty="0"/>
          </a:p>
          <a:p>
            <a:pPr marL="457200" lvl="0" indent="-457200" algn="just" rtl="0">
              <a:lnSpc>
                <a:spcPct val="100000"/>
              </a:lnSpc>
              <a:spcBef>
                <a:spcPts val="1400"/>
              </a:spcBef>
              <a:spcAft>
                <a:spcPts val="0"/>
              </a:spcAft>
              <a:buSzPts val="2000"/>
              <a:buFont typeface="Calibri"/>
              <a:buAutoNum type="arabicPeriod"/>
            </a:pPr>
            <a:r>
              <a:rPr lang="en-US" b="1" dirty="0">
                <a:solidFill>
                  <a:schemeClr val="dk1"/>
                </a:solidFill>
                <a:latin typeface="Times New Roman"/>
                <a:ea typeface="Times New Roman"/>
                <a:cs typeface="Times New Roman"/>
                <a:sym typeface="Times New Roman"/>
              </a:rPr>
              <a:t>Conclusion</a:t>
            </a:r>
            <a:endParaRPr dirty="0"/>
          </a:p>
          <a:p>
            <a:pPr marL="457200" lvl="0" indent="-457200" algn="just" rtl="0">
              <a:lnSpc>
                <a:spcPct val="100000"/>
              </a:lnSpc>
              <a:spcBef>
                <a:spcPts val="1400"/>
              </a:spcBef>
              <a:spcAft>
                <a:spcPts val="0"/>
              </a:spcAft>
              <a:buSzPts val="2000"/>
              <a:buFont typeface="Calibri"/>
              <a:buAutoNum type="arabicPeriod"/>
            </a:pPr>
            <a:r>
              <a:rPr lang="en-US" b="1" dirty="0">
                <a:solidFill>
                  <a:schemeClr val="dk1"/>
                </a:solidFill>
                <a:latin typeface="Times New Roman"/>
                <a:ea typeface="Times New Roman"/>
                <a:cs typeface="Times New Roman"/>
                <a:sym typeface="Times New Roman"/>
              </a:rPr>
              <a:t>Future Enhancement</a:t>
            </a:r>
            <a:endParaRPr dirty="0"/>
          </a:p>
          <a:p>
            <a:pPr marL="457200" lvl="0" indent="-457200" algn="just" rtl="0">
              <a:lnSpc>
                <a:spcPct val="100000"/>
              </a:lnSpc>
              <a:spcBef>
                <a:spcPts val="1400"/>
              </a:spcBef>
              <a:spcAft>
                <a:spcPts val="0"/>
              </a:spcAft>
              <a:buSzPts val="2000"/>
              <a:buFont typeface="Calibri"/>
              <a:buAutoNum type="arabicPeriod"/>
            </a:pPr>
            <a:r>
              <a:rPr lang="en-US" b="1" dirty="0">
                <a:solidFill>
                  <a:schemeClr val="dk1"/>
                </a:solidFill>
                <a:latin typeface="Times New Roman"/>
                <a:ea typeface="Times New Roman"/>
                <a:cs typeface="Times New Roman"/>
                <a:sym typeface="Times New Roman"/>
              </a:rPr>
              <a:t>C</a:t>
            </a:r>
            <a:r>
              <a:rPr lang="en-US" sz="2000" b="1" dirty="0">
                <a:solidFill>
                  <a:schemeClr val="dk1"/>
                </a:solidFill>
                <a:latin typeface="Times New Roman"/>
                <a:ea typeface="Times New Roman"/>
                <a:cs typeface="Times New Roman"/>
                <a:sym typeface="Times New Roman"/>
              </a:rPr>
              <a:t>ompletion Certificate</a:t>
            </a:r>
            <a:endParaRPr b="1"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3"/>
          <p:cNvSpPr txBox="1">
            <a:spLocks noGrp="1"/>
          </p:cNvSpPr>
          <p:nvPr>
            <p:ph type="title"/>
          </p:nvPr>
        </p:nvSpPr>
        <p:spPr>
          <a:xfrm>
            <a:off x="1196789" y="611231"/>
            <a:ext cx="10031505" cy="562712"/>
          </a:xfrm>
          <a:prstGeom prst="rect">
            <a:avLst/>
          </a:prstGeom>
          <a:noFill/>
          <a:ln>
            <a:noFill/>
          </a:ln>
        </p:spPr>
        <p:txBody>
          <a:bodyPr spcFirstLastPara="1" wrap="square" lIns="91425" tIns="45700" rIns="91425" bIns="45700" anchor="b" anchorCtr="0">
            <a:noAutofit/>
          </a:bodyPr>
          <a:lstStyle/>
          <a:p>
            <a:pPr marL="457200" lvl="0" indent="-457200" algn="ctr" rtl="0">
              <a:lnSpc>
                <a:spcPct val="160000"/>
              </a:lnSpc>
              <a:spcBef>
                <a:spcPts val="0"/>
              </a:spcBef>
              <a:spcAft>
                <a:spcPts val="0"/>
              </a:spcAft>
              <a:buClr>
                <a:schemeClr val="dk1"/>
              </a:buClr>
              <a:buSzPts val="2800"/>
              <a:buFont typeface="Calibri"/>
              <a:buAutoNum type="arabicPeriod"/>
            </a:pPr>
            <a:r>
              <a:rPr lang="en-US" sz="2800" b="1">
                <a:solidFill>
                  <a:schemeClr val="dk1"/>
                </a:solidFill>
                <a:latin typeface="Times New Roman"/>
                <a:ea typeface="Times New Roman"/>
                <a:cs typeface="Times New Roman"/>
                <a:sym typeface="Times New Roman"/>
              </a:rPr>
              <a:t>Objective</a:t>
            </a:r>
            <a:endParaRPr/>
          </a:p>
        </p:txBody>
      </p:sp>
      <p:sp>
        <p:nvSpPr>
          <p:cNvPr id="127" name="Google Shape;127;p3"/>
          <p:cNvSpPr txBox="1">
            <a:spLocks noGrp="1"/>
          </p:cNvSpPr>
          <p:nvPr>
            <p:ph type="body" idx="1"/>
          </p:nvPr>
        </p:nvSpPr>
        <p:spPr>
          <a:xfrm>
            <a:off x="1196788" y="1887794"/>
            <a:ext cx="10031505" cy="4405430"/>
          </a:xfrm>
          <a:prstGeom prst="rect">
            <a:avLst/>
          </a:prstGeom>
          <a:noFill/>
          <a:ln>
            <a:noFill/>
          </a:ln>
        </p:spPr>
        <p:txBody>
          <a:bodyPr spcFirstLastPara="1" wrap="square" lIns="0" tIns="45700" rIns="0" bIns="45700" anchor="t" anchorCtr="0">
            <a:noAutofit/>
          </a:bodyPr>
          <a:lstStyle/>
          <a:p>
            <a:pPr marL="91440" lvl="0" indent="0" algn="just" rtl="0">
              <a:lnSpc>
                <a:spcPct val="150000"/>
              </a:lnSpc>
              <a:spcBef>
                <a:spcPts val="0"/>
              </a:spcBef>
              <a:spcAft>
                <a:spcPts val="0"/>
              </a:spcAft>
              <a:buSzPts val="2000"/>
              <a:buNone/>
            </a:pPr>
            <a:r>
              <a:rPr lang="en-GB" sz="1800" b="0" i="0" u="none" strike="noStrike" baseline="0" dirty="0">
                <a:solidFill>
                  <a:srgbClr val="000000"/>
                </a:solidFill>
                <a:latin typeface="Times New Roman" panose="02020603050405020304" pitchFamily="18" charset="0"/>
              </a:rPr>
              <a:t>Main Objective: increase the effectiveness of the bank's telemarketing campaign This project will enable the bank to develop a more granular understanding of its customer base, predict customers' response to its telemarketing campaign and establish a target customer profile for future marketing plans. </a:t>
            </a:r>
          </a:p>
          <a:p>
            <a:pPr marL="91440" lvl="0" indent="0" algn="just" rtl="0">
              <a:lnSpc>
                <a:spcPct val="150000"/>
              </a:lnSpc>
              <a:spcBef>
                <a:spcPts val="0"/>
              </a:spcBef>
              <a:spcAft>
                <a:spcPts val="0"/>
              </a:spcAft>
              <a:buSzPts val="2000"/>
              <a:buNone/>
            </a:pPr>
            <a:r>
              <a:rPr lang="en-GB" sz="1800" b="0" i="0" u="none" strike="noStrike" baseline="0" dirty="0">
                <a:solidFill>
                  <a:srgbClr val="000000"/>
                </a:solidFill>
                <a:latin typeface="Times New Roman" panose="02020603050405020304" pitchFamily="18" charset="0"/>
              </a:rPr>
              <a:t>By analysing customer features, such as demographics and transaction history, the bank will be able to predict customer saving behaviours and identify which type of customers is more likely to make term deposits. The bank can then focus its marketing efforts on those customers. This will not only allow the bank to secure deposits more effectively but also increase customer satisfaction by reducing undesirable advertisements for certain customers. </a:t>
            </a:r>
            <a:endParaRPr b="1"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4"/>
          <p:cNvSpPr txBox="1">
            <a:spLocks noGrp="1"/>
          </p:cNvSpPr>
          <p:nvPr>
            <p:ph type="title"/>
          </p:nvPr>
        </p:nvSpPr>
        <p:spPr>
          <a:xfrm>
            <a:off x="1210237" y="624110"/>
            <a:ext cx="9977717" cy="562712"/>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2800"/>
              <a:buFont typeface="Times New Roman"/>
              <a:buNone/>
            </a:pPr>
            <a:r>
              <a:rPr lang="en-US" sz="2800" b="1">
                <a:solidFill>
                  <a:schemeClr val="dk1"/>
                </a:solidFill>
                <a:latin typeface="Times New Roman"/>
                <a:ea typeface="Times New Roman"/>
                <a:cs typeface="Times New Roman"/>
                <a:sym typeface="Times New Roman"/>
              </a:rPr>
              <a:t>2. Introduction to Python Programming </a:t>
            </a:r>
            <a:endParaRPr/>
          </a:p>
        </p:txBody>
      </p:sp>
      <p:sp>
        <p:nvSpPr>
          <p:cNvPr id="133" name="Google Shape;133;p4"/>
          <p:cNvSpPr txBox="1">
            <a:spLocks noGrp="1"/>
          </p:cNvSpPr>
          <p:nvPr>
            <p:ph type="body" idx="1"/>
          </p:nvPr>
        </p:nvSpPr>
        <p:spPr>
          <a:xfrm>
            <a:off x="1210236" y="1893433"/>
            <a:ext cx="9977718" cy="4370295"/>
          </a:xfrm>
          <a:prstGeom prst="rect">
            <a:avLst/>
          </a:prstGeom>
          <a:noFill/>
          <a:ln>
            <a:noFill/>
          </a:ln>
        </p:spPr>
        <p:txBody>
          <a:bodyPr spcFirstLastPara="1" wrap="square" lIns="0" tIns="45700" rIns="0" bIns="45700" anchor="t" anchorCtr="0">
            <a:noAutofit/>
          </a:bodyPr>
          <a:lstStyle/>
          <a:p>
            <a:pPr algn="just"/>
            <a:r>
              <a:rPr lang="en-GB" sz="1800" b="0" i="0" u="none" strike="noStrike" baseline="0" dirty="0">
                <a:solidFill>
                  <a:srgbClr val="000000"/>
                </a:solidFill>
                <a:latin typeface="Times New Roman" panose="02020603050405020304" pitchFamily="18" charset="0"/>
              </a:rPr>
              <a:t>Python is widely recognized as a versatile programming language highly valued for its simplicity, clarity, and adaptability, making it a foundational tool in the field of data science. </a:t>
            </a:r>
          </a:p>
          <a:p>
            <a:pPr algn="just"/>
            <a:r>
              <a:rPr lang="en-GB" sz="1800" b="0" i="0" u="none" strike="noStrike" baseline="0" dirty="0">
                <a:solidFill>
                  <a:srgbClr val="000000"/>
                </a:solidFill>
                <a:latin typeface="Times New Roman" panose="02020603050405020304" pitchFamily="18" charset="0"/>
              </a:rPr>
              <a:t>Its broad applicability spans areas such as statistical analysis, machine learning, and natural language processing, catering to both beginners and experts due to its user-friendly syntax. </a:t>
            </a:r>
          </a:p>
          <a:p>
            <a:pPr algn="just"/>
            <a:r>
              <a:rPr lang="en-GB" sz="1800" b="0" i="0" u="none" strike="noStrike" baseline="0" dirty="0">
                <a:solidFill>
                  <a:srgbClr val="000000"/>
                </a:solidFill>
                <a:latin typeface="Times New Roman" panose="02020603050405020304" pitchFamily="18" charset="0"/>
              </a:rPr>
              <a:t>Python's extensive standard library offers a wide array of modules and packages tailored to various data-related tasks, including data manipulation, visualization, and machine learning algorithms. Additionally, its support for different programming paradigms, such as procedural, object-oriented, and functional programming, provides data scientists with unmatched flexibility in designing their solutions. </a:t>
            </a:r>
          </a:p>
          <a:p>
            <a:pPr algn="just"/>
            <a:r>
              <a:rPr lang="en-GB" sz="1800" b="0" i="0" u="none" strike="noStrike" baseline="0" dirty="0">
                <a:solidFill>
                  <a:srgbClr val="000000"/>
                </a:solidFill>
                <a:latin typeface="Times New Roman" panose="02020603050405020304" pitchFamily="18" charset="0"/>
              </a:rPr>
              <a:t>In the realm of data science, Python is complemented by a diverse range of specialized libraries and frameworks, each designed for specific stages of the data analysis process. </a:t>
            </a:r>
          </a:p>
          <a:p>
            <a:r>
              <a:rPr lang="en-IN" sz="1800" b="0" i="0" u="none" strike="noStrike" baseline="0" dirty="0">
                <a:solidFill>
                  <a:srgbClr val="000000"/>
                </a:solidFill>
                <a:latin typeface="Times New Roman" panose="02020603050405020304" pitchFamily="18" charset="0"/>
              </a:rPr>
              <a:t>For instance, Pandas, NumPy, and Matplotlib excel in data manipulation, numerical computation, and visualization, while scikit-learn and TensorFlow provide comprehensive toolsets for machine learning and deep learning tasks. </a:t>
            </a:r>
            <a:endParaRPr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5"/>
          <p:cNvSpPr txBox="1">
            <a:spLocks noGrp="1"/>
          </p:cNvSpPr>
          <p:nvPr>
            <p:ph type="title"/>
          </p:nvPr>
        </p:nvSpPr>
        <p:spPr>
          <a:xfrm>
            <a:off x="1183341" y="624110"/>
            <a:ext cx="10192871" cy="562712"/>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2800"/>
              <a:buFont typeface="Times New Roman"/>
              <a:buNone/>
            </a:pPr>
            <a:r>
              <a:rPr lang="en-US" sz="2800" b="1">
                <a:solidFill>
                  <a:schemeClr val="dk1"/>
                </a:solidFill>
                <a:latin typeface="Times New Roman"/>
                <a:ea typeface="Times New Roman"/>
                <a:cs typeface="Times New Roman"/>
                <a:sym typeface="Times New Roman"/>
              </a:rPr>
              <a:t>3. Role and Responsibilities During Internship</a:t>
            </a:r>
            <a:endParaRPr sz="2800" b="1">
              <a:solidFill>
                <a:schemeClr val="dk1"/>
              </a:solidFill>
              <a:latin typeface="Times New Roman"/>
              <a:ea typeface="Times New Roman"/>
              <a:cs typeface="Times New Roman"/>
              <a:sym typeface="Times New Roman"/>
            </a:endParaRPr>
          </a:p>
        </p:txBody>
      </p:sp>
      <p:sp>
        <p:nvSpPr>
          <p:cNvPr id="139" name="Google Shape;139;p5"/>
          <p:cNvSpPr txBox="1">
            <a:spLocks noGrp="1"/>
          </p:cNvSpPr>
          <p:nvPr>
            <p:ph type="body" idx="1"/>
          </p:nvPr>
        </p:nvSpPr>
        <p:spPr>
          <a:xfrm>
            <a:off x="1183342" y="1925531"/>
            <a:ext cx="9977718" cy="3973823"/>
          </a:xfrm>
          <a:prstGeom prst="rect">
            <a:avLst/>
          </a:prstGeom>
          <a:noFill/>
          <a:ln>
            <a:noFill/>
          </a:ln>
        </p:spPr>
        <p:txBody>
          <a:bodyPr spcFirstLastPara="1" wrap="square" lIns="0" tIns="45700" rIns="0" bIns="45700" anchor="t" anchorCtr="0">
            <a:noAutofit/>
          </a:bodyPr>
          <a:lstStyle/>
          <a:p>
            <a:r>
              <a:rPr lang="en-GB" sz="1800" b="0" i="0" u="none" strike="noStrike" baseline="0" dirty="0">
                <a:solidFill>
                  <a:srgbClr val="000000"/>
                </a:solidFill>
                <a:latin typeface="Times New Roman" panose="02020603050405020304" pitchFamily="18" charset="0"/>
              </a:rPr>
              <a:t>"Predicting Customer Response to Telemarketing Campaigns," here are some roles and responsibilities </a:t>
            </a:r>
            <a:r>
              <a:rPr lang="en-GB" sz="1800" b="0" i="0" u="none" strike="noStrike" baseline="0" dirty="0" err="1">
                <a:solidFill>
                  <a:srgbClr val="000000"/>
                </a:solidFill>
                <a:latin typeface="Times New Roman" panose="02020603050405020304" pitchFamily="18" charset="0"/>
              </a:rPr>
              <a:t>i</a:t>
            </a:r>
            <a:r>
              <a:rPr lang="en-GB" sz="1800" b="0" i="0" u="none" strike="noStrike" baseline="0" dirty="0">
                <a:solidFill>
                  <a:srgbClr val="000000"/>
                </a:solidFill>
                <a:latin typeface="Times New Roman" panose="02020603050405020304" pitchFamily="18" charset="0"/>
              </a:rPr>
              <a:t> have taken on during my internship: </a:t>
            </a:r>
          </a:p>
          <a:p>
            <a:r>
              <a:rPr lang="en-GB" sz="1800" b="0" i="0" u="none" strike="noStrike" baseline="0" dirty="0">
                <a:solidFill>
                  <a:srgbClr val="000000"/>
                </a:solidFill>
                <a:latin typeface="Times New Roman" panose="02020603050405020304" pitchFamily="18" charset="0"/>
              </a:rPr>
              <a:t>1. Data Collection and Preprocessing  </a:t>
            </a:r>
          </a:p>
          <a:p>
            <a:r>
              <a:rPr lang="en-IN" sz="1800" b="0" i="0" u="none" strike="noStrike" baseline="0" dirty="0">
                <a:solidFill>
                  <a:srgbClr val="000000"/>
                </a:solidFill>
                <a:latin typeface="Times New Roman" panose="02020603050405020304" pitchFamily="18" charset="0"/>
              </a:rPr>
              <a:t>2. Feature Engineering</a:t>
            </a:r>
            <a:endParaRPr lang="en-GB" sz="1800" b="0" i="0" u="none" strike="noStrike" baseline="0" dirty="0">
              <a:solidFill>
                <a:srgbClr val="000000"/>
              </a:solidFill>
              <a:latin typeface="Times New Roman" panose="02020603050405020304" pitchFamily="18" charset="0"/>
            </a:endParaRPr>
          </a:p>
          <a:p>
            <a:r>
              <a:rPr lang="en-IN" sz="1800" b="0" i="0" u="none" strike="noStrike" baseline="0" dirty="0">
                <a:solidFill>
                  <a:srgbClr val="000000"/>
                </a:solidFill>
                <a:latin typeface="Times New Roman" panose="02020603050405020304" pitchFamily="18" charset="0"/>
              </a:rPr>
              <a:t>3. Model Building</a:t>
            </a:r>
          </a:p>
          <a:p>
            <a:r>
              <a:rPr lang="en-IN" sz="1800" b="0" i="0" u="none" strike="noStrike" baseline="0" dirty="0">
                <a:solidFill>
                  <a:srgbClr val="000000"/>
                </a:solidFill>
                <a:latin typeface="Times New Roman" panose="02020603050405020304" pitchFamily="18" charset="0"/>
              </a:rPr>
              <a:t>4. Model Evaluation</a:t>
            </a:r>
          </a:p>
          <a:p>
            <a:r>
              <a:rPr lang="en-IN" sz="1800" b="0" i="0" u="none" strike="noStrike" baseline="0" dirty="0">
                <a:solidFill>
                  <a:srgbClr val="000000"/>
                </a:solidFill>
                <a:latin typeface="Times New Roman" panose="02020603050405020304" pitchFamily="18" charset="0"/>
              </a:rPr>
              <a:t>5. Implementation and Deployment </a:t>
            </a:r>
          </a:p>
          <a:p>
            <a:r>
              <a:rPr lang="en-IN" sz="1800" b="0" i="0" u="none" strike="noStrike" baseline="0" dirty="0">
                <a:solidFill>
                  <a:srgbClr val="000000"/>
                </a:solidFill>
                <a:latin typeface="Times New Roman" panose="02020603050405020304" pitchFamily="18" charset="0"/>
              </a:rPr>
              <a:t>6. Reporting and Documentation</a:t>
            </a:r>
          </a:p>
          <a:p>
            <a:r>
              <a:rPr lang="en-IN" sz="1800" b="0" i="0" u="none" strike="noStrike" baseline="0" dirty="0">
                <a:solidFill>
                  <a:srgbClr val="000000"/>
                </a:solidFill>
                <a:latin typeface="Times New Roman" panose="02020603050405020304" pitchFamily="18" charset="0"/>
              </a:rPr>
              <a:t>7. Collaboration</a:t>
            </a:r>
          </a:p>
          <a:p>
            <a:r>
              <a:rPr lang="en-IN" sz="1800" b="0" i="0" u="none" strike="noStrike" baseline="0" dirty="0">
                <a:solidFill>
                  <a:srgbClr val="000000"/>
                </a:solidFill>
                <a:latin typeface="Times New Roman" panose="02020603050405020304" pitchFamily="18" charset="0"/>
              </a:rPr>
              <a:t>8. Continuous Learning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8"/>
          <p:cNvSpPr txBox="1">
            <a:spLocks noGrp="1"/>
          </p:cNvSpPr>
          <p:nvPr>
            <p:ph type="title"/>
          </p:nvPr>
        </p:nvSpPr>
        <p:spPr>
          <a:xfrm>
            <a:off x="1183342" y="624110"/>
            <a:ext cx="10085294" cy="562712"/>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2800"/>
              <a:buFont typeface="Times New Roman"/>
              <a:buNone/>
            </a:pPr>
            <a:r>
              <a:rPr lang="en-US" sz="2800" b="1" dirty="0">
                <a:solidFill>
                  <a:schemeClr val="dk1"/>
                </a:solidFill>
                <a:latin typeface="Times New Roman"/>
                <a:ea typeface="Times New Roman"/>
                <a:cs typeface="Times New Roman"/>
                <a:sym typeface="Times New Roman"/>
              </a:rPr>
              <a:t>4. Internship Work</a:t>
            </a:r>
            <a:endParaRPr sz="2800" b="1" dirty="0">
              <a:solidFill>
                <a:schemeClr val="dk1"/>
              </a:solidFill>
              <a:latin typeface="Times New Roman"/>
              <a:ea typeface="Times New Roman"/>
              <a:cs typeface="Times New Roman"/>
              <a:sym typeface="Times New Roman"/>
            </a:endParaRPr>
          </a:p>
        </p:txBody>
      </p:sp>
      <p:sp>
        <p:nvSpPr>
          <p:cNvPr id="158" name="Google Shape;158;p8"/>
          <p:cNvSpPr txBox="1">
            <a:spLocks noGrp="1"/>
          </p:cNvSpPr>
          <p:nvPr>
            <p:ph type="body" idx="1"/>
          </p:nvPr>
        </p:nvSpPr>
        <p:spPr>
          <a:xfrm>
            <a:off x="1183342" y="1882588"/>
            <a:ext cx="9991164" cy="4329954"/>
          </a:xfrm>
          <a:prstGeom prst="rect">
            <a:avLst/>
          </a:prstGeom>
          <a:noFill/>
          <a:ln>
            <a:noFill/>
          </a:ln>
        </p:spPr>
        <p:txBody>
          <a:bodyPr spcFirstLastPara="1" wrap="square" lIns="0" tIns="45700" rIns="0" bIns="45700" anchor="t" anchorCtr="0">
            <a:noAutofit/>
          </a:bodyPr>
          <a:lstStyle/>
          <a:p>
            <a:pPr marL="91440" lvl="0" indent="-127000" algn="just" rtl="0">
              <a:lnSpc>
                <a:spcPct val="150000"/>
              </a:lnSpc>
              <a:spcBef>
                <a:spcPts val="0"/>
              </a:spcBef>
              <a:spcAft>
                <a:spcPts val="0"/>
              </a:spcAft>
              <a:buSzPts val="2000"/>
              <a:buFont typeface="Noto Sans Symbols"/>
              <a:buChar char="⮚"/>
            </a:pPr>
            <a:r>
              <a:rPr lang="en-US" dirty="0">
                <a:solidFill>
                  <a:schemeClr val="dk1"/>
                </a:solidFill>
                <a:latin typeface="Times New Roman"/>
                <a:ea typeface="Times New Roman"/>
                <a:cs typeface="Times New Roman"/>
                <a:sym typeface="Times New Roman"/>
              </a:rPr>
              <a:t> </a:t>
            </a:r>
            <a:r>
              <a:rPr lang="en-US" sz="1800" b="1" dirty="0">
                <a:latin typeface="Times New Roman"/>
                <a:ea typeface="Times New Roman"/>
                <a:cs typeface="Times New Roman"/>
                <a:sym typeface="Times New Roman"/>
              </a:rPr>
              <a:t>AIM: </a:t>
            </a:r>
            <a:r>
              <a:rPr lang="en-GB" sz="1800" dirty="0">
                <a:latin typeface="Times New Roman"/>
                <a:ea typeface="Times New Roman"/>
                <a:cs typeface="Times New Roman"/>
                <a:sym typeface="Times New Roman"/>
              </a:rPr>
              <a:t>This project will enable the bank to develop a more granular understanding of its customer base, predict customers' response to its telemarketing campaign and establish a target customer profile for future marketing plans.</a:t>
            </a:r>
          </a:p>
          <a:p>
            <a:pPr marL="91440" lvl="0" indent="-127000" algn="just" rtl="0">
              <a:lnSpc>
                <a:spcPct val="150000"/>
              </a:lnSpc>
              <a:spcBef>
                <a:spcPts val="0"/>
              </a:spcBef>
              <a:spcAft>
                <a:spcPts val="0"/>
              </a:spcAft>
              <a:buSzPts val="2000"/>
              <a:buFont typeface="Noto Sans Symbols"/>
              <a:buChar char="⮚"/>
            </a:pPr>
            <a:endParaRPr lang="en-GB" sz="1800" dirty="0">
              <a:latin typeface="Times New Roman"/>
              <a:ea typeface="Times New Roman"/>
              <a:cs typeface="Times New Roman"/>
              <a:sym typeface="Times New Roman"/>
            </a:endParaRPr>
          </a:p>
          <a:p>
            <a:pPr marL="91440" lvl="0" indent="-127000" algn="just" rtl="0">
              <a:lnSpc>
                <a:spcPct val="150000"/>
              </a:lnSpc>
              <a:spcBef>
                <a:spcPts val="0"/>
              </a:spcBef>
              <a:spcAft>
                <a:spcPts val="0"/>
              </a:spcAft>
              <a:buSzPts val="2000"/>
              <a:buFont typeface="Noto Sans Symbols"/>
              <a:buChar char="⮚"/>
            </a:pPr>
            <a:r>
              <a:rPr lang="en-GB" sz="1800" dirty="0">
                <a:latin typeface="Times New Roman"/>
                <a:ea typeface="Times New Roman"/>
                <a:cs typeface="Times New Roman"/>
                <a:sym typeface="Times New Roman"/>
              </a:rPr>
              <a:t>By analysing customer features, such as demographics and transaction history, the bank will be able to predict customer saving behaviours and identify which type of customers is more likely to make term deposits. The bank can then focus its marketing efforts on those customers. This will not only allow the bank to secure deposits more effectively but also increase customer satisfaction by reducing undesirable advertisements for certain customers.</a:t>
            </a:r>
            <a:endParaRPr lang="en-US" dirty="0"/>
          </a:p>
          <a:p>
            <a:pPr marL="91440" lvl="0" indent="0" algn="just" rtl="0">
              <a:lnSpc>
                <a:spcPct val="150000"/>
              </a:lnSpc>
              <a:spcBef>
                <a:spcPts val="1400"/>
              </a:spcBef>
              <a:spcAft>
                <a:spcPts val="0"/>
              </a:spcAft>
              <a:buSzPts val="1800"/>
              <a:buFont typeface="Noto Sans Symbols"/>
              <a:buNone/>
            </a:pPr>
            <a:endParaRPr sz="1800" b="1" dirty="0">
              <a:solidFill>
                <a:schemeClr val="dk1"/>
              </a:solidFill>
              <a:latin typeface="Times New Roman"/>
              <a:ea typeface="Times New Roman"/>
              <a:cs typeface="Times New Roman"/>
              <a:sym typeface="Times New Roman"/>
            </a:endParaRPr>
          </a:p>
          <a:p>
            <a:pPr marL="91440" lvl="0" indent="0" algn="just" rtl="0">
              <a:lnSpc>
                <a:spcPct val="150000"/>
              </a:lnSpc>
              <a:spcBef>
                <a:spcPts val="1400"/>
              </a:spcBef>
              <a:spcAft>
                <a:spcPts val="0"/>
              </a:spcAft>
              <a:buSzPts val="1800"/>
              <a:buFont typeface="Noto Sans Symbols"/>
              <a:buNone/>
            </a:pPr>
            <a:endParaRPr sz="1800" b="1" dirty="0">
              <a:solidFill>
                <a:schemeClr val="dk1"/>
              </a:solidFill>
              <a:latin typeface="Times New Roman"/>
              <a:ea typeface="Times New Roman"/>
              <a:cs typeface="Times New Roman"/>
              <a:sym typeface="Times New Roman"/>
            </a:endParaRPr>
          </a:p>
          <a:p>
            <a:pPr marL="91440" lvl="0" indent="0" algn="just" rtl="0">
              <a:lnSpc>
                <a:spcPct val="150000"/>
              </a:lnSpc>
              <a:spcBef>
                <a:spcPts val="1400"/>
              </a:spcBef>
              <a:spcAft>
                <a:spcPts val="0"/>
              </a:spcAft>
              <a:buSzPts val="1800"/>
              <a:buFont typeface="Noto Sans Symbols"/>
              <a:buNone/>
            </a:pPr>
            <a:endParaRPr sz="1800" b="1" dirty="0">
              <a:solidFill>
                <a:schemeClr val="dk1"/>
              </a:solidFill>
              <a:latin typeface="Times New Roman"/>
              <a:ea typeface="Times New Roman"/>
              <a:cs typeface="Times New Roman"/>
              <a:sym typeface="Times New Roman"/>
            </a:endParaRPr>
          </a:p>
          <a:p>
            <a:pPr marL="91440" lvl="0" indent="0" algn="just" rtl="0">
              <a:lnSpc>
                <a:spcPct val="150000"/>
              </a:lnSpc>
              <a:spcBef>
                <a:spcPts val="1400"/>
              </a:spcBef>
              <a:spcAft>
                <a:spcPts val="0"/>
              </a:spcAft>
              <a:buSzPts val="1800"/>
              <a:buFont typeface="Noto Sans Symbols"/>
              <a:buNone/>
            </a:pPr>
            <a:endParaRPr sz="1800" b="1" dirty="0">
              <a:solidFill>
                <a:schemeClr val="dk1"/>
              </a:solidFill>
              <a:latin typeface="Times New Roman"/>
              <a:ea typeface="Times New Roman"/>
              <a:cs typeface="Times New Roman"/>
              <a:sym typeface="Times New Roman"/>
            </a:endParaRPr>
          </a:p>
          <a:p>
            <a:pPr marL="91440" lvl="0" indent="0" algn="just" rtl="0">
              <a:lnSpc>
                <a:spcPct val="150000"/>
              </a:lnSpc>
              <a:spcBef>
                <a:spcPts val="1400"/>
              </a:spcBef>
              <a:spcAft>
                <a:spcPts val="0"/>
              </a:spcAft>
              <a:buSzPts val="1800"/>
              <a:buFont typeface="Noto Sans Symbols"/>
              <a:buNone/>
            </a:pPr>
            <a:endParaRPr sz="1800" b="1" dirty="0">
              <a:solidFill>
                <a:schemeClr val="dk1"/>
              </a:solidFill>
              <a:latin typeface="Times New Roman"/>
              <a:ea typeface="Times New Roman"/>
              <a:cs typeface="Times New Roman"/>
              <a:sym typeface="Times New Roman"/>
            </a:endParaRPr>
          </a:p>
          <a:p>
            <a:pPr marL="91440" lvl="0" indent="-114300" algn="just" rtl="0">
              <a:lnSpc>
                <a:spcPct val="150000"/>
              </a:lnSpc>
              <a:spcBef>
                <a:spcPts val="1400"/>
              </a:spcBef>
              <a:spcAft>
                <a:spcPts val="0"/>
              </a:spcAft>
              <a:buSzPts val="1800"/>
              <a:buFont typeface="Noto Sans Symbols"/>
              <a:buChar char="⮚"/>
            </a:pPr>
            <a:r>
              <a:rPr lang="en-US" sz="1800" b="1" dirty="0">
                <a:solidFill>
                  <a:schemeClr val="dk1"/>
                </a:solidFill>
                <a:latin typeface="Times New Roman"/>
                <a:ea typeface="Times New Roman"/>
                <a:cs typeface="Times New Roman"/>
                <a:sym typeface="Times New Roman"/>
              </a:rPr>
              <a:t>Output:</a:t>
            </a:r>
            <a:endParaRPr sz="2000" b="1"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9"/>
          <p:cNvSpPr txBox="1">
            <a:spLocks noGrp="1"/>
          </p:cNvSpPr>
          <p:nvPr>
            <p:ph type="body" idx="1"/>
          </p:nvPr>
        </p:nvSpPr>
        <p:spPr>
          <a:xfrm>
            <a:off x="1183342" y="1882588"/>
            <a:ext cx="9991164" cy="4329954"/>
          </a:xfrm>
          <a:prstGeom prst="rect">
            <a:avLst/>
          </a:prstGeom>
          <a:noFill/>
          <a:ln>
            <a:noFill/>
          </a:ln>
        </p:spPr>
        <p:txBody>
          <a:bodyPr spcFirstLastPara="1" wrap="square" lIns="0" tIns="45700" rIns="0" bIns="45700" anchor="t" anchorCtr="0">
            <a:noAutofit/>
          </a:bodyPr>
          <a:lstStyle/>
          <a:p>
            <a:pPr marL="91440" lvl="0" indent="0" algn="just" rtl="0">
              <a:lnSpc>
                <a:spcPct val="150000"/>
              </a:lnSpc>
              <a:spcBef>
                <a:spcPts val="0"/>
              </a:spcBef>
              <a:spcAft>
                <a:spcPts val="0"/>
              </a:spcAft>
              <a:buSzPts val="2000"/>
              <a:buFont typeface="Noto Sans Symbols"/>
              <a:buNone/>
            </a:pPr>
            <a:r>
              <a:rPr lang="en-GB" sz="2000" b="1" dirty="0">
                <a:solidFill>
                  <a:schemeClr val="dk1"/>
                </a:solidFill>
                <a:latin typeface="Times New Roman"/>
                <a:ea typeface="Times New Roman"/>
                <a:cs typeface="Times New Roman"/>
                <a:sym typeface="Times New Roman"/>
              </a:rPr>
              <a:t>1. Project Background</a:t>
            </a:r>
          </a:p>
          <a:p>
            <a:pPr marL="91440" lvl="0" indent="0" algn="just" rtl="0">
              <a:lnSpc>
                <a:spcPct val="150000"/>
              </a:lnSpc>
              <a:spcBef>
                <a:spcPts val="0"/>
              </a:spcBef>
              <a:spcAft>
                <a:spcPts val="0"/>
              </a:spcAft>
              <a:buSzPts val="2000"/>
              <a:buFont typeface="Noto Sans Symbols"/>
              <a:buNone/>
            </a:pPr>
            <a:r>
              <a:rPr lang="en-GB" sz="2000" b="1" dirty="0">
                <a:solidFill>
                  <a:schemeClr val="dk1"/>
                </a:solidFill>
                <a:latin typeface="Times New Roman"/>
                <a:ea typeface="Times New Roman"/>
                <a:cs typeface="Times New Roman"/>
                <a:sym typeface="Times New Roman"/>
              </a:rPr>
              <a:t>2. Data Cleaning</a:t>
            </a:r>
          </a:p>
          <a:p>
            <a:pPr marL="91440" lvl="0" indent="0" algn="just" rtl="0">
              <a:lnSpc>
                <a:spcPct val="150000"/>
              </a:lnSpc>
              <a:spcBef>
                <a:spcPts val="0"/>
              </a:spcBef>
              <a:spcAft>
                <a:spcPts val="0"/>
              </a:spcAft>
              <a:buSzPts val="2000"/>
              <a:buFont typeface="Noto Sans Symbols"/>
              <a:buNone/>
            </a:pPr>
            <a:r>
              <a:rPr lang="en-GB" sz="2000" b="1" dirty="0">
                <a:solidFill>
                  <a:schemeClr val="dk1"/>
                </a:solidFill>
                <a:latin typeface="Times New Roman"/>
                <a:ea typeface="Times New Roman"/>
                <a:cs typeface="Times New Roman"/>
                <a:sym typeface="Times New Roman"/>
              </a:rPr>
              <a:t>3. Exploratory Data Analysis</a:t>
            </a:r>
          </a:p>
          <a:p>
            <a:pPr marL="91440" lvl="0" indent="0" algn="just" rtl="0">
              <a:lnSpc>
                <a:spcPct val="150000"/>
              </a:lnSpc>
              <a:spcBef>
                <a:spcPts val="0"/>
              </a:spcBef>
              <a:spcAft>
                <a:spcPts val="0"/>
              </a:spcAft>
              <a:buSzPts val="2000"/>
              <a:buFont typeface="Noto Sans Symbols"/>
              <a:buNone/>
            </a:pPr>
            <a:r>
              <a:rPr lang="en-GB" sz="2000" b="1" dirty="0">
                <a:solidFill>
                  <a:schemeClr val="dk1"/>
                </a:solidFill>
                <a:latin typeface="Times New Roman"/>
                <a:ea typeface="Times New Roman"/>
                <a:cs typeface="Times New Roman"/>
                <a:sym typeface="Times New Roman"/>
              </a:rPr>
              <a:t>4. Data Visualization</a:t>
            </a:r>
          </a:p>
          <a:p>
            <a:pPr marL="91440" lvl="0" indent="0" algn="just" rtl="0">
              <a:lnSpc>
                <a:spcPct val="150000"/>
              </a:lnSpc>
              <a:spcBef>
                <a:spcPts val="0"/>
              </a:spcBef>
              <a:spcAft>
                <a:spcPts val="0"/>
              </a:spcAft>
              <a:buSzPts val="2000"/>
              <a:buFont typeface="Noto Sans Symbols"/>
              <a:buNone/>
            </a:pPr>
            <a:r>
              <a:rPr lang="en-GB" sz="2000" b="1" dirty="0">
                <a:solidFill>
                  <a:schemeClr val="dk1"/>
                </a:solidFill>
                <a:latin typeface="Times New Roman"/>
                <a:ea typeface="Times New Roman"/>
                <a:cs typeface="Times New Roman"/>
                <a:sym typeface="Times New Roman"/>
              </a:rPr>
              <a:t>5. Machine Learning: Classification</a:t>
            </a:r>
          </a:p>
          <a:p>
            <a:pPr marL="91440" lvl="0" indent="0" algn="just" rtl="0">
              <a:lnSpc>
                <a:spcPct val="150000"/>
              </a:lnSpc>
              <a:spcBef>
                <a:spcPts val="0"/>
              </a:spcBef>
              <a:spcAft>
                <a:spcPts val="0"/>
              </a:spcAft>
              <a:buSzPts val="2000"/>
              <a:buFont typeface="Noto Sans Symbols"/>
              <a:buNone/>
            </a:pPr>
            <a:r>
              <a:rPr lang="en-GB" sz="2000" b="1" dirty="0">
                <a:solidFill>
                  <a:schemeClr val="dk1"/>
                </a:solidFill>
                <a:latin typeface="Times New Roman"/>
                <a:ea typeface="Times New Roman"/>
                <a:cs typeface="Times New Roman"/>
                <a:sym typeface="Times New Roman"/>
              </a:rPr>
              <a:t>6. Machine Learning: Regression</a:t>
            </a:r>
          </a:p>
          <a:p>
            <a:pPr marL="91440" lvl="0" indent="0" algn="just" rtl="0">
              <a:lnSpc>
                <a:spcPct val="150000"/>
              </a:lnSpc>
              <a:spcBef>
                <a:spcPts val="0"/>
              </a:spcBef>
              <a:spcAft>
                <a:spcPts val="0"/>
              </a:spcAft>
              <a:buSzPts val="2000"/>
              <a:buFont typeface="Noto Sans Symbols"/>
              <a:buNone/>
            </a:pPr>
            <a:r>
              <a:rPr lang="en-GB" sz="2000" b="1" dirty="0">
                <a:solidFill>
                  <a:schemeClr val="dk1"/>
                </a:solidFill>
                <a:latin typeface="Times New Roman"/>
                <a:ea typeface="Times New Roman"/>
                <a:cs typeface="Times New Roman"/>
                <a:sym typeface="Times New Roman"/>
              </a:rPr>
              <a:t>7. Conclusion &amp; Recommendations</a:t>
            </a:r>
            <a:endParaRPr sz="2000" b="1" dirty="0">
              <a:solidFill>
                <a:schemeClr val="dk1"/>
              </a:solidFill>
              <a:latin typeface="Times New Roman"/>
              <a:ea typeface="Times New Roman"/>
              <a:cs typeface="Times New Roman"/>
              <a:sym typeface="Times New Roman"/>
            </a:endParaRPr>
          </a:p>
        </p:txBody>
      </p:sp>
      <p:sp>
        <p:nvSpPr>
          <p:cNvPr id="166" name="Google Shape;166;p9"/>
          <p:cNvSpPr txBox="1"/>
          <p:nvPr/>
        </p:nvSpPr>
        <p:spPr>
          <a:xfrm>
            <a:off x="1158763" y="776510"/>
            <a:ext cx="10085294" cy="562712"/>
          </a:xfrm>
          <a:prstGeom prst="rect">
            <a:avLst/>
          </a:prstGeom>
          <a:noFill/>
          <a:ln>
            <a:noFill/>
          </a:ln>
        </p:spPr>
        <p:txBody>
          <a:bodyPr spcFirstLastPara="1" wrap="square" lIns="91425" tIns="45700" rIns="91425" bIns="45700" anchor="b" anchorCtr="0">
            <a:noAutofit/>
          </a:bodyPr>
          <a:lstStyle/>
          <a:p>
            <a:pPr marL="0" marR="0" lvl="0" indent="0" algn="l" rtl="0">
              <a:lnSpc>
                <a:spcPct val="150000"/>
              </a:lnSpc>
              <a:spcBef>
                <a:spcPts val="0"/>
              </a:spcBef>
              <a:spcAft>
                <a:spcPts val="0"/>
              </a:spcAft>
              <a:buClr>
                <a:schemeClr val="dk1"/>
              </a:buClr>
              <a:buSzPts val="2800"/>
              <a:buFont typeface="Times New Roman"/>
              <a:buNone/>
            </a:pPr>
            <a:r>
              <a:rPr lang="en-US" sz="2800" b="1" dirty="0">
                <a:solidFill>
                  <a:schemeClr val="dk1"/>
                </a:solidFill>
                <a:latin typeface="Times New Roman"/>
                <a:cs typeface="Times New Roman"/>
                <a:sym typeface="Times New Roman"/>
              </a:rPr>
              <a:t>Table of Contents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3E93F-1AA4-48C6-B68B-943BD587DE8F}"/>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Project Background</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C6488C1-6DCB-2B72-01C8-EB3E0FA72BD9}"/>
              </a:ext>
            </a:extLst>
          </p:cNvPr>
          <p:cNvSpPr>
            <a:spLocks noGrp="1"/>
          </p:cNvSpPr>
          <p:nvPr>
            <p:ph type="body" idx="1"/>
          </p:nvPr>
        </p:nvSpPr>
        <p:spPr/>
        <p:txBody>
          <a:bodyPr/>
          <a:lstStyle/>
          <a:p>
            <a:r>
              <a:rPr lang="en-GB" dirty="0">
                <a:latin typeface="Times New Roman" panose="02020603050405020304" pitchFamily="18" charset="0"/>
                <a:cs typeface="Times New Roman" panose="02020603050405020304" pitchFamily="18" charset="0"/>
              </a:rPr>
              <a:t>Nowadays, marketing spending in the banking industry is massive, meaning that it is essential for banks to optimize marketing strategies and improve effectiveness. Understanding customers’ need leads to more effective marketing plans, smarter product designs and greater customer satisfaction.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4009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01781-1E50-A88E-9FB5-7A4BC708604E}"/>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Data Cleaning</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24190DA-DD12-6C62-F4BA-C6A4BCD064FF}"/>
              </a:ext>
            </a:extLst>
          </p:cNvPr>
          <p:cNvSpPr>
            <a:spLocks noGrp="1"/>
          </p:cNvSpPr>
          <p:nvPr>
            <p:ph type="body" idx="1"/>
          </p:nvPr>
        </p:nvSpPr>
        <p:spPr/>
        <p:txBody>
          <a:bodyPr/>
          <a:lstStyle/>
          <a:p>
            <a:endParaRPr lang="en-IN"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39074724-8D6D-98CD-C011-23211547CC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4650" y="2343150"/>
            <a:ext cx="6362700"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700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99C0F-B17D-CB5F-C825-5AC230515239}"/>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Load the raw data</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BAEF9D7-CE9B-9D23-77BC-D38574024560}"/>
              </a:ext>
            </a:extLst>
          </p:cNvPr>
          <p:cNvSpPr>
            <a:spLocks noGrp="1"/>
          </p:cNvSpPr>
          <p:nvPr>
            <p:ph type="body" idx="1"/>
          </p:nvPr>
        </p:nvSpPr>
        <p:spPr/>
        <p:txBody>
          <a:bodyPr/>
          <a:lstStyle/>
          <a:p>
            <a:pPr algn="just"/>
            <a:r>
              <a:rPr lang="en-GB" dirty="0">
                <a:latin typeface="Times New Roman" panose="02020603050405020304" pitchFamily="18" charset="0"/>
                <a:cs typeface="Times New Roman" panose="02020603050405020304" pitchFamily="18" charset="0"/>
              </a:rPr>
              <a:t>This dataset is about the direct phone call marketing campaigns, which aim to promote term deposits among existing customers, by a Portuguese banking institution from May 2008 to November 2010. It is publicly available in the UCI Machine learning Repository, which can be retrieved from http://archive.ics.uci.edu/ml/datasets/Bank+Marketing#.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367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7D3D5D-73EE-AA71-F0BA-8898FB06C45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09145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D88FC6-07D9-9843-B534-8C0C2B632D9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2223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657B-7B55-542C-06AD-07445364981C}"/>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Exploratory data analysis </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CE69035-88B1-237D-1F42-E926EA556DF9}"/>
              </a:ext>
            </a:extLst>
          </p:cNvPr>
          <p:cNvSpPr>
            <a:spLocks noGrp="1"/>
          </p:cNvSpPr>
          <p:nvPr>
            <p:ph type="body" idx="1"/>
          </p:nvPr>
        </p:nvSpPr>
        <p:spPr>
          <a:xfrm>
            <a:off x="1097279" y="1737360"/>
            <a:ext cx="10271175" cy="4131734"/>
          </a:xfrm>
        </p:spPr>
        <p:txBody>
          <a:bodyPr/>
          <a:lstStyle/>
          <a:p>
            <a:pPr algn="just"/>
            <a:r>
              <a:rPr lang="en-GB" dirty="0">
                <a:latin typeface="Times New Roman" panose="02020603050405020304" pitchFamily="18" charset="0"/>
                <a:cs typeface="Times New Roman" panose="02020603050405020304" pitchFamily="18" charset="0"/>
              </a:rPr>
              <a:t>To obtain a better understanding of the dataset, the distribution of key variables and the relationships among them were plotted.</a:t>
            </a:r>
          </a:p>
          <a:p>
            <a:pPr algn="just"/>
            <a:endParaRPr lang="en-IN"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11968170-D8C1-B743-27A0-E8FCAE64DD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7125" y="2659303"/>
            <a:ext cx="6182576" cy="3451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1886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392EB7-4F6E-DCD6-0472-2248B8F9A55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1621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E4FD9-05D3-AABA-0826-F1117E4B4FFE}"/>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089CF7F-8424-F74A-8589-53D0D921669D}"/>
              </a:ext>
            </a:extLst>
          </p:cNvPr>
          <p:cNvSpPr>
            <a:spLocks noGrp="1"/>
          </p:cNvSpPr>
          <p:nvPr>
            <p:ph type="body" idx="1"/>
          </p:nvPr>
        </p:nvSpPr>
        <p:spPr>
          <a:xfrm>
            <a:off x="1097280" y="1749530"/>
            <a:ext cx="10148152" cy="4073063"/>
          </a:xfrm>
        </p:spPr>
        <p:txBody>
          <a:bodyPr/>
          <a:lstStyle/>
          <a:p>
            <a:pPr algn="just"/>
            <a:r>
              <a:rPr lang="en-GB" dirty="0">
                <a:latin typeface="Times New Roman" panose="02020603050405020304" pitchFamily="18" charset="0"/>
                <a:cs typeface="Times New Roman" panose="02020603050405020304" pitchFamily="18" charset="0"/>
              </a:rPr>
              <a:t>With a sound knowledge of the distribution of key variables, further analysis of each customer characteristic can be carried out to investigate its influence on the subscription rate.</a:t>
            </a:r>
          </a:p>
          <a:p>
            <a:pPr algn="just"/>
            <a:endParaRPr lang="en-IN" dirty="0">
              <a:latin typeface="Times New Roman" panose="02020603050405020304" pitchFamily="18" charset="0"/>
              <a:cs typeface="Times New Roman" panose="02020603050405020304" pitchFamily="18" charset="0"/>
            </a:endParaRPr>
          </a:p>
        </p:txBody>
      </p:sp>
      <p:pic>
        <p:nvPicPr>
          <p:cNvPr id="3074" name="Picture 2" descr=" ">
            <a:extLst>
              <a:ext uri="{FF2B5EF4-FFF2-40B4-BE49-F238E27FC236}">
                <a16:creationId xmlns:a16="http://schemas.microsoft.com/office/drawing/2014/main" id="{23F5741A-E8A0-4619-2740-0B2B0E16D3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5333" y="2592299"/>
            <a:ext cx="4821334" cy="3230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6953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1E7767-56D6-C4FC-7ED5-16320F7C15E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47156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F12B-0985-F149-15BA-6E547497ADDC}"/>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Machine Learning: Classification</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9586D12-846E-9A49-45A2-8CD9F0165042}"/>
              </a:ext>
            </a:extLst>
          </p:cNvPr>
          <p:cNvSpPr>
            <a:spLocks noGrp="1"/>
          </p:cNvSpPr>
          <p:nvPr>
            <p:ph type="body" idx="1"/>
          </p:nvPr>
        </p:nvSpPr>
        <p:spPr/>
        <p:txBody>
          <a:bodyPr/>
          <a:lstStyle/>
          <a:p>
            <a:pPr algn="just"/>
            <a:r>
              <a:rPr lang="en-GB" dirty="0">
                <a:latin typeface="Times New Roman" panose="02020603050405020304" pitchFamily="18" charset="0"/>
                <a:cs typeface="Times New Roman" panose="02020603050405020304" pitchFamily="18" charset="0"/>
              </a:rPr>
              <a:t>The main objective of this project is to identify the most responsive customers before the marketing campaign so that the bank will be able to efficiently reach out to them, saving time and marketing resources. To achieve this objective, classification algorithms will be employed. By analysing customer statistics, a classification model will be built to classify all clients into two groups: "yes" to term deposits and "no" to term deposits.</a:t>
            </a:r>
          </a:p>
          <a:p>
            <a:pPr algn="just"/>
            <a:endParaRPr lang="en-IN" dirty="0">
              <a:latin typeface="Times New Roman" panose="02020603050405020304" pitchFamily="18" charset="0"/>
              <a:cs typeface="Times New Roman" panose="02020603050405020304" pitchFamily="18" charset="0"/>
            </a:endParaRPr>
          </a:p>
        </p:txBody>
      </p:sp>
      <p:pic>
        <p:nvPicPr>
          <p:cNvPr id="4098" name="Picture 2">
            <a:extLst>
              <a:ext uri="{FF2B5EF4-FFF2-40B4-BE49-F238E27FC236}">
                <a16:creationId xmlns:a16="http://schemas.microsoft.com/office/drawing/2014/main" id="{35845AFF-029C-229E-2C72-E26B7D5EE2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2267" y="3444241"/>
            <a:ext cx="5380087" cy="2797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3466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B88FB6-6A9F-839B-A5F3-90EEE44FBC2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30135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6C1F9-4C81-6E44-63C9-5DA843EF2BAA}"/>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Machine Learning: Regression</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EAB76FE-ADAB-1DD8-21D9-7ED777988239}"/>
              </a:ext>
            </a:extLst>
          </p:cNvPr>
          <p:cNvSpPr>
            <a:spLocks noGrp="1"/>
          </p:cNvSpPr>
          <p:nvPr>
            <p:ph type="body" idx="1"/>
          </p:nvPr>
        </p:nvSpPr>
        <p:spPr/>
        <p:txBody>
          <a:bodyPr/>
          <a:lstStyle/>
          <a:p>
            <a:pPr algn="just"/>
            <a:r>
              <a:rPr lang="en-GB" dirty="0">
                <a:latin typeface="Times New Roman" panose="02020603050405020304" pitchFamily="18" charset="0"/>
                <a:cs typeface="Times New Roman" panose="02020603050405020304" pitchFamily="18" charset="0"/>
              </a:rPr>
              <a:t>Regression analysis is carried out to complement the classification result and help the bank better predict campaign outcome based on customer statistics.</a:t>
            </a:r>
          </a:p>
          <a:p>
            <a:endParaRPr lang="en-GB" dirty="0">
              <a:latin typeface="Times New Roman" panose="02020603050405020304" pitchFamily="18" charset="0"/>
              <a:cs typeface="Times New Roman" panose="02020603050405020304" pitchFamily="18" charset="0"/>
            </a:endParaRPr>
          </a:p>
          <a:p>
            <a:pPr algn="just"/>
            <a:r>
              <a:rPr lang="en-GB" dirty="0">
                <a:latin typeface="Times New Roman" panose="02020603050405020304" pitchFamily="18" charset="0"/>
                <a:cs typeface="Times New Roman" panose="02020603050405020304" pitchFamily="18" charset="0"/>
              </a:rPr>
              <a:t>Since the duration of a phone call is positively correlated with the campaign outcome, it can serve as another indicator of the possibility of subscription. In this part, regression algorithms will be used to estimate the duration of a phone call, helping the bank better predict subscription rate.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2858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2EB9CCF-3EC0-00BA-BA57-2B75ECF0F59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46433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0"/>
          <p:cNvSpPr txBox="1">
            <a:spLocks noGrp="1"/>
          </p:cNvSpPr>
          <p:nvPr>
            <p:ph type="title"/>
          </p:nvPr>
        </p:nvSpPr>
        <p:spPr>
          <a:xfrm>
            <a:off x="1210237" y="624110"/>
            <a:ext cx="9950823" cy="562712"/>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2800"/>
              <a:buFont typeface="Times New Roman"/>
              <a:buNone/>
            </a:pPr>
            <a:r>
              <a:rPr lang="en-US" sz="2800" b="1" dirty="0">
                <a:solidFill>
                  <a:schemeClr val="dk1"/>
                </a:solidFill>
                <a:latin typeface="Times New Roman"/>
                <a:ea typeface="Times New Roman"/>
                <a:cs typeface="Times New Roman"/>
                <a:sym typeface="Times New Roman"/>
              </a:rPr>
              <a:t>5. Conclusion</a:t>
            </a:r>
            <a:endParaRPr dirty="0"/>
          </a:p>
        </p:txBody>
      </p:sp>
      <p:sp>
        <p:nvSpPr>
          <p:cNvPr id="172" name="Google Shape;172;p10"/>
          <p:cNvSpPr txBox="1">
            <a:spLocks noGrp="1"/>
          </p:cNvSpPr>
          <p:nvPr>
            <p:ph type="body" idx="1"/>
          </p:nvPr>
        </p:nvSpPr>
        <p:spPr>
          <a:xfrm>
            <a:off x="1210236" y="1909481"/>
            <a:ext cx="9950824" cy="4249271"/>
          </a:xfrm>
          <a:prstGeom prst="rect">
            <a:avLst/>
          </a:prstGeom>
          <a:noFill/>
          <a:ln>
            <a:noFill/>
          </a:ln>
        </p:spPr>
        <p:txBody>
          <a:bodyPr spcFirstLastPara="1" wrap="square" lIns="0" tIns="45700" rIns="0" bIns="45700" anchor="t" anchorCtr="0">
            <a:noAutofit/>
          </a:bodyPr>
          <a:lstStyle/>
          <a:p>
            <a:pPr marL="91440" lvl="0" indent="0" algn="just" rtl="0">
              <a:lnSpc>
                <a:spcPct val="150000"/>
              </a:lnSpc>
              <a:spcBef>
                <a:spcPts val="0"/>
              </a:spcBef>
              <a:spcAft>
                <a:spcPts val="0"/>
              </a:spcAft>
              <a:buSzPts val="2000"/>
              <a:buFont typeface="Noto Sans Symbols"/>
              <a:buNone/>
            </a:pPr>
            <a:r>
              <a:rPr lang="en-GB" sz="2000" dirty="0">
                <a:latin typeface="Times New Roman"/>
                <a:ea typeface="Times New Roman"/>
                <a:cs typeface="Times New Roman"/>
                <a:sym typeface="Times New Roman"/>
              </a:rPr>
              <a:t>According to previous analysis, a target customer profile can be established. The most responsive customers possess these features:</a:t>
            </a:r>
          </a:p>
          <a:p>
            <a:pPr marL="91440" lvl="0" indent="0" algn="just" rtl="0">
              <a:lnSpc>
                <a:spcPct val="150000"/>
              </a:lnSpc>
              <a:spcBef>
                <a:spcPts val="0"/>
              </a:spcBef>
              <a:spcAft>
                <a:spcPts val="0"/>
              </a:spcAft>
              <a:buSzPts val="2000"/>
              <a:buFont typeface="Noto Sans Symbols"/>
              <a:buNone/>
            </a:pPr>
            <a:r>
              <a:rPr lang="en-GB" sz="2000" dirty="0">
                <a:latin typeface="Times New Roman"/>
                <a:ea typeface="Times New Roman"/>
                <a:cs typeface="Times New Roman"/>
                <a:sym typeface="Times New Roman"/>
              </a:rPr>
              <a:t>* Feature 1: age &lt; 30 or age &gt; 60</a:t>
            </a:r>
          </a:p>
          <a:p>
            <a:pPr marL="91440" lvl="0" indent="0" algn="just" rtl="0">
              <a:lnSpc>
                <a:spcPct val="150000"/>
              </a:lnSpc>
              <a:spcBef>
                <a:spcPts val="0"/>
              </a:spcBef>
              <a:spcAft>
                <a:spcPts val="0"/>
              </a:spcAft>
              <a:buSzPts val="2000"/>
              <a:buFont typeface="Noto Sans Symbols"/>
              <a:buNone/>
            </a:pPr>
            <a:r>
              <a:rPr lang="en-GB" sz="2000" dirty="0">
                <a:latin typeface="Times New Roman"/>
                <a:ea typeface="Times New Roman"/>
                <a:cs typeface="Times New Roman"/>
                <a:sym typeface="Times New Roman"/>
              </a:rPr>
              <a:t>* Feature 2: students or retired people</a:t>
            </a:r>
          </a:p>
          <a:p>
            <a:pPr marL="91440" lvl="0" indent="0" algn="just" rtl="0">
              <a:lnSpc>
                <a:spcPct val="150000"/>
              </a:lnSpc>
              <a:spcBef>
                <a:spcPts val="0"/>
              </a:spcBef>
              <a:spcAft>
                <a:spcPts val="0"/>
              </a:spcAft>
              <a:buSzPts val="2000"/>
              <a:buFont typeface="Noto Sans Symbols"/>
              <a:buNone/>
            </a:pPr>
            <a:r>
              <a:rPr lang="en-GB" sz="2000" dirty="0">
                <a:latin typeface="Times New Roman"/>
                <a:ea typeface="Times New Roman"/>
                <a:cs typeface="Times New Roman"/>
                <a:sym typeface="Times New Roman"/>
              </a:rPr>
              <a:t>* Feature 3: a balance of more than 5000 euros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6FE4B7-82DC-1C26-EE7F-C8891864CBD4}"/>
              </a:ext>
            </a:extLst>
          </p:cNvPr>
          <p:cNvSpPr txBox="1"/>
          <p:nvPr/>
        </p:nvSpPr>
        <p:spPr>
          <a:xfrm>
            <a:off x="562708" y="978425"/>
            <a:ext cx="11051930" cy="5438476"/>
          </a:xfrm>
          <a:prstGeom prst="rect">
            <a:avLst/>
          </a:prstGeom>
          <a:noFill/>
        </p:spPr>
        <p:txBody>
          <a:bodyPr wrap="square">
            <a:spAutoFit/>
          </a:bodyPr>
          <a:lstStyle/>
          <a:p>
            <a:pPr marL="91440" lvl="0" indent="0" algn="just" rtl="0">
              <a:lnSpc>
                <a:spcPct val="150000"/>
              </a:lnSpc>
              <a:spcBef>
                <a:spcPts val="0"/>
              </a:spcBef>
              <a:spcAft>
                <a:spcPts val="0"/>
              </a:spcAft>
              <a:buSzPts val="2000"/>
              <a:buFont typeface="Noto Sans Symbols"/>
              <a:buNone/>
            </a:pPr>
            <a:endParaRPr lang="en-GB" sz="1400" dirty="0">
              <a:latin typeface="Times New Roman"/>
              <a:ea typeface="Times New Roman"/>
              <a:cs typeface="Times New Roman"/>
              <a:sym typeface="Times New Roman"/>
            </a:endParaRPr>
          </a:p>
          <a:p>
            <a:pPr marL="91440" lvl="0" indent="0" algn="just" rtl="0">
              <a:lnSpc>
                <a:spcPct val="150000"/>
              </a:lnSpc>
              <a:spcBef>
                <a:spcPts val="0"/>
              </a:spcBef>
              <a:spcAft>
                <a:spcPts val="0"/>
              </a:spcAft>
              <a:buSzPts val="2000"/>
              <a:buFont typeface="Noto Sans Symbols"/>
              <a:buNone/>
            </a:pPr>
            <a:r>
              <a:rPr lang="en-GB" sz="2000" dirty="0">
                <a:latin typeface="Times New Roman"/>
                <a:ea typeface="Times New Roman"/>
                <a:cs typeface="Times New Roman"/>
                <a:sym typeface="Times New Roman"/>
              </a:rPr>
              <a:t>By applying logistic and ridge regression algorithms, classification and estimation model were successfully built. With these two models, the bank will be able to predict a customer's response to its telemarketing campaign before calling this customer. In this way, the bank can allocate more marketing efforts to the clients who are classified as highly likely to accept term deposits, and call less to those who are unlikely to make term deposits.</a:t>
            </a:r>
          </a:p>
          <a:p>
            <a:pPr marL="91440" lvl="0" indent="0" algn="just" rtl="0">
              <a:lnSpc>
                <a:spcPct val="150000"/>
              </a:lnSpc>
              <a:spcBef>
                <a:spcPts val="0"/>
              </a:spcBef>
              <a:spcAft>
                <a:spcPts val="0"/>
              </a:spcAft>
              <a:buSzPts val="2000"/>
              <a:buFont typeface="Noto Sans Symbols"/>
              <a:buNone/>
            </a:pPr>
            <a:endParaRPr lang="en-GB" sz="2000" dirty="0">
              <a:latin typeface="Times New Roman"/>
              <a:ea typeface="Times New Roman"/>
              <a:cs typeface="Times New Roman"/>
              <a:sym typeface="Times New Roman"/>
            </a:endParaRPr>
          </a:p>
          <a:p>
            <a:pPr marL="91440" lvl="0" indent="0" algn="just" rtl="0">
              <a:lnSpc>
                <a:spcPct val="150000"/>
              </a:lnSpc>
              <a:spcBef>
                <a:spcPts val="0"/>
              </a:spcBef>
              <a:spcAft>
                <a:spcPts val="0"/>
              </a:spcAft>
              <a:buSzPts val="2000"/>
              <a:buFont typeface="Noto Sans Symbols"/>
              <a:buNone/>
            </a:pPr>
            <a:r>
              <a:rPr lang="en-GB" sz="2000" dirty="0">
                <a:latin typeface="Times New Roman"/>
                <a:ea typeface="Times New Roman"/>
                <a:cs typeface="Times New Roman"/>
                <a:sym typeface="Times New Roman"/>
              </a:rPr>
              <a:t>In addition, predicting duration before calling and adjusting marketing plan benefit both the bank and its clients. On the one hand, it will increase the efficiency of the bank’s telemarketing campaign, saving time and efforts. On the other hand, it prevents some clients from receiving undesirable advertisements, raising customer satisfaction. With the aid of logistic and ridge regression models, the bank can enter a virtuous cycle of effective marketing, more investments and happier customers.</a:t>
            </a:r>
          </a:p>
        </p:txBody>
      </p:sp>
    </p:spTree>
    <p:extLst>
      <p:ext uri="{BB962C8B-B14F-4D97-AF65-F5344CB8AC3E}">
        <p14:creationId xmlns:p14="http://schemas.microsoft.com/office/powerpoint/2010/main" val="602944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1"/>
          <p:cNvSpPr txBox="1">
            <a:spLocks noGrp="1"/>
          </p:cNvSpPr>
          <p:nvPr>
            <p:ph type="title"/>
          </p:nvPr>
        </p:nvSpPr>
        <p:spPr>
          <a:xfrm>
            <a:off x="1196789" y="624110"/>
            <a:ext cx="9977717" cy="562712"/>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2800"/>
              <a:buFont typeface="Times New Roman"/>
              <a:buNone/>
            </a:pPr>
            <a:r>
              <a:rPr lang="en-US" sz="2800" b="1" dirty="0">
                <a:solidFill>
                  <a:schemeClr val="dk1"/>
                </a:solidFill>
                <a:latin typeface="Times New Roman"/>
                <a:ea typeface="Times New Roman"/>
                <a:cs typeface="Times New Roman"/>
                <a:sym typeface="Times New Roman"/>
              </a:rPr>
              <a:t>6. Future Enhancement</a:t>
            </a:r>
            <a:endParaRPr dirty="0"/>
          </a:p>
        </p:txBody>
      </p:sp>
      <p:sp>
        <p:nvSpPr>
          <p:cNvPr id="178" name="Google Shape;178;p11"/>
          <p:cNvSpPr txBox="1">
            <a:spLocks noGrp="1"/>
          </p:cNvSpPr>
          <p:nvPr>
            <p:ph type="body" idx="1"/>
          </p:nvPr>
        </p:nvSpPr>
        <p:spPr>
          <a:xfrm>
            <a:off x="1196788" y="1885300"/>
            <a:ext cx="9977718" cy="4434818"/>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GB" dirty="0">
                <a:solidFill>
                  <a:schemeClr val="dk1"/>
                </a:solidFill>
                <a:latin typeface="Times New Roman"/>
                <a:ea typeface="Times New Roman"/>
                <a:cs typeface="Times New Roman"/>
                <a:sym typeface="Times New Roman"/>
              </a:rPr>
              <a:t>Recommendations</a:t>
            </a:r>
          </a:p>
          <a:p>
            <a:pPr marL="0" lvl="0" indent="0" algn="l" rtl="0">
              <a:lnSpc>
                <a:spcPct val="150000"/>
              </a:lnSpc>
              <a:spcBef>
                <a:spcPts val="0"/>
              </a:spcBef>
              <a:spcAft>
                <a:spcPts val="0"/>
              </a:spcAft>
              <a:buSzPts val="2000"/>
              <a:buNone/>
            </a:pPr>
            <a:r>
              <a:rPr lang="en-GB" dirty="0">
                <a:solidFill>
                  <a:schemeClr val="dk1"/>
                </a:solidFill>
                <a:latin typeface="Times New Roman"/>
                <a:ea typeface="Times New Roman"/>
                <a:cs typeface="Times New Roman"/>
                <a:sym typeface="Times New Roman"/>
              </a:rPr>
              <a:t>1. More appropriate timing</a:t>
            </a:r>
          </a:p>
          <a:p>
            <a:pPr marL="0" lvl="0" indent="0" algn="just" rtl="0">
              <a:lnSpc>
                <a:spcPct val="150000"/>
              </a:lnSpc>
              <a:spcBef>
                <a:spcPts val="0"/>
              </a:spcBef>
              <a:spcAft>
                <a:spcPts val="0"/>
              </a:spcAft>
              <a:buSzPts val="2000"/>
              <a:buNone/>
            </a:pPr>
            <a:r>
              <a:rPr lang="en-GB" dirty="0">
                <a:solidFill>
                  <a:schemeClr val="dk1"/>
                </a:solidFill>
                <a:latin typeface="Times New Roman"/>
                <a:ea typeface="Times New Roman"/>
                <a:cs typeface="Times New Roman"/>
                <a:sym typeface="Times New Roman"/>
              </a:rPr>
              <a:t>When implementing a marketing strategy, external factors, such as the time of calling, should also be carefully considered. The previous analysis points out that March, September, October and December had the highest success rates. Nevertheless, more data should be collected and </a:t>
            </a:r>
            <a:r>
              <a:rPr lang="en-GB" dirty="0" err="1">
                <a:solidFill>
                  <a:schemeClr val="dk1"/>
                </a:solidFill>
                <a:latin typeface="Times New Roman"/>
                <a:ea typeface="Times New Roman"/>
                <a:cs typeface="Times New Roman"/>
                <a:sym typeface="Times New Roman"/>
              </a:rPr>
              <a:t>analyzed</a:t>
            </a:r>
            <a:r>
              <a:rPr lang="en-GB" dirty="0">
                <a:solidFill>
                  <a:schemeClr val="dk1"/>
                </a:solidFill>
                <a:latin typeface="Times New Roman"/>
                <a:ea typeface="Times New Roman"/>
                <a:cs typeface="Times New Roman"/>
                <a:sym typeface="Times New Roman"/>
              </a:rPr>
              <a:t> to make sure that this seasonal effect is constant over time. If the trend has the potential to continue in the future, the bank should consider initiating its telemarketing campaign in fall and spring.</a:t>
            </a:r>
          </a:p>
          <a:p>
            <a:pPr marL="0" lvl="0" indent="0" algn="l" rtl="0">
              <a:lnSpc>
                <a:spcPct val="150000"/>
              </a:lnSpc>
              <a:spcBef>
                <a:spcPts val="0"/>
              </a:spcBef>
              <a:spcAft>
                <a:spcPts val="0"/>
              </a:spcAft>
              <a:buSzPts val="2000"/>
              <a:buNone/>
            </a:pPr>
            <a:endParaRPr lang="en-GB"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22A4AE-272A-7460-3EB9-DAB67F59F8AF}"/>
              </a:ext>
            </a:extLst>
          </p:cNvPr>
          <p:cNvSpPr txBox="1"/>
          <p:nvPr/>
        </p:nvSpPr>
        <p:spPr>
          <a:xfrm>
            <a:off x="659422" y="493677"/>
            <a:ext cx="11007969" cy="4653646"/>
          </a:xfrm>
          <a:prstGeom prst="rect">
            <a:avLst/>
          </a:prstGeom>
          <a:noFill/>
        </p:spPr>
        <p:txBody>
          <a:bodyPr wrap="square">
            <a:spAutoFit/>
          </a:bodyPr>
          <a:lstStyle/>
          <a:p>
            <a:pPr marL="0" lvl="0" indent="0" algn="l" rtl="0">
              <a:lnSpc>
                <a:spcPct val="150000"/>
              </a:lnSpc>
              <a:spcBef>
                <a:spcPts val="0"/>
              </a:spcBef>
              <a:spcAft>
                <a:spcPts val="0"/>
              </a:spcAft>
              <a:buSzPts val="2000"/>
              <a:buNone/>
            </a:pPr>
            <a:r>
              <a:rPr lang="en-GB" sz="2000" dirty="0">
                <a:solidFill>
                  <a:schemeClr val="dk1"/>
                </a:solidFill>
                <a:latin typeface="Times New Roman"/>
                <a:ea typeface="Times New Roman"/>
                <a:cs typeface="Times New Roman"/>
                <a:sym typeface="Times New Roman"/>
              </a:rPr>
              <a:t>2. Smarter marketing design</a:t>
            </a:r>
          </a:p>
          <a:p>
            <a:pPr marL="0" lvl="0" indent="0" algn="just" rtl="0">
              <a:lnSpc>
                <a:spcPct val="150000"/>
              </a:lnSpc>
              <a:spcBef>
                <a:spcPts val="0"/>
              </a:spcBef>
              <a:spcAft>
                <a:spcPts val="0"/>
              </a:spcAft>
              <a:buSzPts val="2000"/>
              <a:buNone/>
            </a:pPr>
            <a:r>
              <a:rPr lang="en-GB" sz="2000" dirty="0">
                <a:solidFill>
                  <a:schemeClr val="dk1"/>
                </a:solidFill>
                <a:latin typeface="Times New Roman"/>
                <a:ea typeface="Times New Roman"/>
                <a:cs typeface="Times New Roman"/>
                <a:sym typeface="Times New Roman"/>
              </a:rPr>
              <a:t>By targeting the right customers, the bank will have more and more positive responses, and the classification algorithms would ultimately eliminate the imbalance in the original dataset. Hence, more accurate information will be presented to the bank for improving the subscriptions. Meanwhile, to increase the likelihood of subscription, the bank should re-evaluate the content and design of its current campaign, making it more appealing to its target customers.</a:t>
            </a:r>
          </a:p>
          <a:p>
            <a:pPr marL="0" lvl="0" indent="0" algn="l" rtl="0">
              <a:lnSpc>
                <a:spcPct val="150000"/>
              </a:lnSpc>
              <a:spcBef>
                <a:spcPts val="0"/>
              </a:spcBef>
              <a:spcAft>
                <a:spcPts val="0"/>
              </a:spcAft>
              <a:buSzPts val="2000"/>
              <a:buNone/>
            </a:pPr>
            <a:endParaRPr lang="en-GB" sz="2000" dirty="0">
              <a:solidFill>
                <a:schemeClr val="dk1"/>
              </a:solidFill>
              <a:latin typeface="Times New Roman"/>
              <a:ea typeface="Times New Roman"/>
              <a:cs typeface="Times New Roman"/>
              <a:sym typeface="Times New Roman"/>
            </a:endParaRPr>
          </a:p>
          <a:p>
            <a:pPr marL="0" lvl="0" indent="0" algn="l" rtl="0">
              <a:lnSpc>
                <a:spcPct val="150000"/>
              </a:lnSpc>
              <a:spcBef>
                <a:spcPts val="0"/>
              </a:spcBef>
              <a:spcAft>
                <a:spcPts val="0"/>
              </a:spcAft>
              <a:buSzPts val="2000"/>
              <a:buNone/>
            </a:pPr>
            <a:r>
              <a:rPr lang="en-GB" sz="2000" dirty="0">
                <a:solidFill>
                  <a:schemeClr val="dk1"/>
                </a:solidFill>
                <a:latin typeface="Times New Roman"/>
                <a:ea typeface="Times New Roman"/>
                <a:cs typeface="Times New Roman"/>
                <a:sym typeface="Times New Roman"/>
              </a:rPr>
              <a:t>3. Better services provision</a:t>
            </a:r>
          </a:p>
          <a:p>
            <a:pPr marL="0" lvl="0" indent="0" algn="l" rtl="0">
              <a:lnSpc>
                <a:spcPct val="150000"/>
              </a:lnSpc>
              <a:spcBef>
                <a:spcPts val="0"/>
              </a:spcBef>
              <a:spcAft>
                <a:spcPts val="0"/>
              </a:spcAft>
              <a:buSzPts val="2000"/>
              <a:buNone/>
            </a:pPr>
            <a:r>
              <a:rPr lang="en-GB" sz="2000" dirty="0">
                <a:solidFill>
                  <a:schemeClr val="dk1"/>
                </a:solidFill>
                <a:latin typeface="Times New Roman"/>
                <a:ea typeface="Times New Roman"/>
                <a:cs typeface="Times New Roman"/>
                <a:sym typeface="Times New Roman"/>
              </a:rPr>
              <a:t>With a more granular understanding of its customer base, the bank has the ability to provide better banking services.</a:t>
            </a:r>
          </a:p>
        </p:txBody>
      </p:sp>
    </p:spTree>
    <p:extLst>
      <p:ext uri="{BB962C8B-B14F-4D97-AF65-F5344CB8AC3E}">
        <p14:creationId xmlns:p14="http://schemas.microsoft.com/office/powerpoint/2010/main" val="372781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594BC-91E0-45C1-7C55-08738F40E22B}"/>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Digital Images Retrieved From</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1334A30-BA40-B719-8196-7435F906EB19}"/>
              </a:ext>
            </a:extLst>
          </p:cNvPr>
          <p:cNvSpPr>
            <a:spLocks noGrp="1"/>
          </p:cNvSpPr>
          <p:nvPr>
            <p:ph type="body" idx="1"/>
          </p:nvPr>
        </p:nvSpPr>
        <p:spPr/>
        <p:txBody>
          <a:bodyPr/>
          <a:lstStyle/>
          <a:p>
            <a:pPr marL="114300" indent="0">
              <a:buNone/>
            </a:pPr>
            <a:endParaRPr lang="en-GB" dirty="0"/>
          </a:p>
          <a:p>
            <a:r>
              <a:rPr lang="en-GB" dirty="0">
                <a:latin typeface="Times New Roman" panose="02020603050405020304" pitchFamily="18" charset="0"/>
                <a:cs typeface="Times New Roman" panose="02020603050405020304" pitchFamily="18" charset="0"/>
              </a:rPr>
              <a:t> https://www.geeksforgeeks.org/data-preprocessing-machine-learning-python/</a:t>
            </a:r>
          </a:p>
          <a:p>
            <a:r>
              <a:rPr lang="en-GB" dirty="0">
                <a:latin typeface="Times New Roman" panose="02020603050405020304" pitchFamily="18" charset="0"/>
                <a:cs typeface="Times New Roman" panose="02020603050405020304" pitchFamily="18" charset="0"/>
              </a:rPr>
              <a:t> https://www.jejurtv.com/blank-6</a:t>
            </a:r>
          </a:p>
          <a:p>
            <a:r>
              <a:rPr lang="en-GB" dirty="0">
                <a:latin typeface="Times New Roman" panose="02020603050405020304" pitchFamily="18" charset="0"/>
                <a:cs typeface="Times New Roman" panose="02020603050405020304" pitchFamily="18" charset="0"/>
              </a:rPr>
              <a:t> https://giphy.com/gifs/animation-animated-l378c04F2fjeZ7vH2</a:t>
            </a:r>
          </a:p>
          <a:p>
            <a:r>
              <a:rPr lang="en-GB" dirty="0">
                <a:latin typeface="Times New Roman" panose="02020603050405020304" pitchFamily="18" charset="0"/>
                <a:cs typeface="Times New Roman" panose="02020603050405020304" pitchFamily="18" charset="0"/>
              </a:rPr>
              <a:t> http://algolytics.com/tutorial-how-to-determine-the-quality-and-correctness-of-classification-models-part-1-introduction/</a:t>
            </a:r>
          </a:p>
          <a:p>
            <a:r>
              <a:rPr lang="en-GB" dirty="0">
                <a:latin typeface="Times New Roman" panose="02020603050405020304" pitchFamily="18" charset="0"/>
                <a:cs typeface="Times New Roman" panose="02020603050405020304" pitchFamily="18" charset="0"/>
              </a:rPr>
              <a:t> https://sendiancreations.com/our-marketing-services/best-motion-graphics/opening/</a:t>
            </a:r>
          </a:p>
          <a:p>
            <a:r>
              <a:rPr lang="en-GB" dirty="0">
                <a:latin typeface="Times New Roman" panose="02020603050405020304" pitchFamily="18" charset="0"/>
                <a:cs typeface="Times New Roman" panose="02020603050405020304" pitchFamily="18" charset="0"/>
              </a:rPr>
              <a:t> https://www.agencialorean.com.br/conteudos/ineficaz-organico</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944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2"/>
          <p:cNvSpPr txBox="1">
            <a:spLocks noGrp="1"/>
          </p:cNvSpPr>
          <p:nvPr>
            <p:ph type="title"/>
          </p:nvPr>
        </p:nvSpPr>
        <p:spPr>
          <a:xfrm>
            <a:off x="1196789" y="624110"/>
            <a:ext cx="9977717" cy="562712"/>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dk1"/>
              </a:buClr>
              <a:buSzPts val="2800"/>
              <a:buFont typeface="Times New Roman"/>
              <a:buNone/>
            </a:pPr>
            <a:r>
              <a:rPr lang="en-US" sz="2800" b="1" dirty="0">
                <a:solidFill>
                  <a:schemeClr val="dk1"/>
                </a:solidFill>
                <a:latin typeface="Times New Roman"/>
                <a:ea typeface="Times New Roman"/>
                <a:cs typeface="Times New Roman"/>
                <a:sym typeface="Times New Roman"/>
              </a:rPr>
              <a:t>7. Completion Certificate(Company/Course)</a:t>
            </a:r>
            <a:endParaRPr sz="2800" b="1" dirty="0">
              <a:solidFill>
                <a:schemeClr val="dk1"/>
              </a:solidFill>
              <a:latin typeface="Times New Roman"/>
              <a:ea typeface="Times New Roman"/>
              <a:cs typeface="Times New Roman"/>
              <a:sym typeface="Times New Roman"/>
            </a:endParaRPr>
          </a:p>
        </p:txBody>
      </p:sp>
      <p:sp>
        <p:nvSpPr>
          <p:cNvPr id="184" name="Google Shape;184;p12"/>
          <p:cNvSpPr txBox="1">
            <a:spLocks noGrp="1"/>
          </p:cNvSpPr>
          <p:nvPr>
            <p:ph type="body" idx="1"/>
          </p:nvPr>
        </p:nvSpPr>
        <p:spPr>
          <a:xfrm>
            <a:off x="1196788" y="1885300"/>
            <a:ext cx="9977718" cy="4434818"/>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GB">
                <a:solidFill>
                  <a:schemeClr val="dk1"/>
                </a:solidFill>
                <a:latin typeface="Times New Roman"/>
                <a:ea typeface="Times New Roman"/>
                <a:cs typeface="Times New Roman"/>
                <a:sym typeface="Times New Roman"/>
              </a:rPr>
              <a:t> </a:t>
            </a:r>
            <a:endParaRPr dirty="0">
              <a:solidFill>
                <a:schemeClr val="dk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1574CB46-36DD-5C23-2894-434FB426E39F}"/>
              </a:ext>
            </a:extLst>
          </p:cNvPr>
          <p:cNvPicPr>
            <a:picLocks noChangeAspect="1"/>
          </p:cNvPicPr>
          <p:nvPr/>
        </p:nvPicPr>
        <p:blipFill>
          <a:blip r:embed="rId3"/>
          <a:stretch>
            <a:fillRect/>
          </a:stretch>
        </p:blipFill>
        <p:spPr>
          <a:xfrm>
            <a:off x="3918359" y="1885300"/>
            <a:ext cx="4671726" cy="43485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13" descr="Say thank you to someone at Companies House - GOV.UK"/>
          <p:cNvPicPr preferRelativeResize="0"/>
          <p:nvPr/>
        </p:nvPicPr>
        <p:blipFill rotWithShape="1">
          <a:blip r:embed="rId3">
            <a:alphaModFix/>
          </a:blip>
          <a:srcRect/>
          <a:stretch/>
        </p:blipFill>
        <p:spPr>
          <a:xfrm>
            <a:off x="3557680" y="2247495"/>
            <a:ext cx="5115672" cy="341044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1469</Words>
  <Application>Microsoft Office PowerPoint</Application>
  <PresentationFormat>Widescreen</PresentationFormat>
  <Paragraphs>107</Paragraphs>
  <Slides>27</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Noto Sans Symbols</vt:lpstr>
      <vt:lpstr>Times New Roman</vt:lpstr>
      <vt:lpstr>Retrospect</vt:lpstr>
      <vt:lpstr>PowerPoint Presentation</vt:lpstr>
      <vt:lpstr>Outline</vt:lpstr>
      <vt:lpstr>Objective</vt:lpstr>
      <vt:lpstr>2. Introduction to Python Programming </vt:lpstr>
      <vt:lpstr>3. Role and Responsibilities During Internship</vt:lpstr>
      <vt:lpstr>4. Internship Work</vt:lpstr>
      <vt:lpstr>PowerPoint Presentation</vt:lpstr>
      <vt:lpstr>Project Background</vt:lpstr>
      <vt:lpstr>Data Cleaning</vt:lpstr>
      <vt:lpstr>Load the raw data</vt:lpstr>
      <vt:lpstr>PowerPoint Presentation</vt:lpstr>
      <vt:lpstr>PowerPoint Presentation</vt:lpstr>
      <vt:lpstr>Exploratory data analysis </vt:lpstr>
      <vt:lpstr>PowerPoint Presentation</vt:lpstr>
      <vt:lpstr>Data Visualization</vt:lpstr>
      <vt:lpstr>PowerPoint Presentation</vt:lpstr>
      <vt:lpstr>Machine Learning: Classification</vt:lpstr>
      <vt:lpstr>PowerPoint Presentation</vt:lpstr>
      <vt:lpstr>Machine Learning: Regression</vt:lpstr>
      <vt:lpstr>PowerPoint Presentation</vt:lpstr>
      <vt:lpstr>5. Conclusion</vt:lpstr>
      <vt:lpstr>PowerPoint Presentation</vt:lpstr>
      <vt:lpstr>6. Future Enhancement</vt:lpstr>
      <vt:lpstr>PowerPoint Presentation</vt:lpstr>
      <vt:lpstr>Digital Images Retrieved From</vt:lpstr>
      <vt:lpstr>7. Completion Certificate(Company/Course)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Gopesh Rabadiya</cp:lastModifiedBy>
  <cp:revision>14</cp:revision>
  <dcterms:created xsi:type="dcterms:W3CDTF">2021-06-09T16:25:43Z</dcterms:created>
  <dcterms:modified xsi:type="dcterms:W3CDTF">2024-07-17T22:47:18Z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