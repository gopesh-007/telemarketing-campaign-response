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8" r:id="rId4"/>
    <p:sldId id="259" r:id="rId5"/>
    <p:sldId id="260" r:id="rId6"/>
    <p:sldId id="261" r:id="rId7"/>
    <p:sldId id="263" r:id="rId8"/>
    <p:sldId id="264" r:id="rId9"/>
    <p:sldId id="265" r:id="rId10"/>
    <p:sldId id="266" r:id="rId11"/>
    <p:sldId id="267" r:id="rId12"/>
    <p:sldId id="276"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00" r:id="rId43"/>
    <p:sldId id="298" r:id="rId44"/>
    <p:sldId id="299" r:id="rId45"/>
    <p:sldId id="301" r:id="rId46"/>
    <p:sldId id="302" r:id="rId47"/>
    <p:sldId id="303" r:id="rId48"/>
    <p:sldId id="304" r:id="rId49"/>
    <p:sldId id="305" r:id="rId50"/>
    <p:sldId id="306" r:id="rId51"/>
    <p:sldId id="307" r:id="rId52"/>
    <p:sldId id="315" r:id="rId53"/>
    <p:sldId id="310" r:id="rId54"/>
    <p:sldId id="311" r:id="rId55"/>
    <p:sldId id="312" r:id="rId56"/>
    <p:sldId id="313" r:id="rId57"/>
    <p:sldId id="309" r:id="rId58"/>
    <p:sldId id="316" r:id="rId59"/>
    <p:sldId id="317" r:id="rId60"/>
    <p:sldId id="318" r:id="rId61"/>
    <p:sldId id="325" r:id="rId62"/>
    <p:sldId id="319" r:id="rId63"/>
    <p:sldId id="320" r:id="rId64"/>
    <p:sldId id="324" r:id="rId65"/>
    <p:sldId id="321" r:id="rId66"/>
    <p:sldId id="322" r:id="rId67"/>
    <p:sldId id="323" r:id="rId68"/>
    <p:sldId id="326" r:id="rId69"/>
    <p:sldId id="327" r:id="rId70"/>
    <p:sldId id="328" r:id="rId71"/>
    <p:sldId id="329" r:id="rId72"/>
    <p:sldId id="330" r:id="rId73"/>
    <p:sldId id="337" r:id="rId74"/>
    <p:sldId id="331" r:id="rId75"/>
    <p:sldId id="332" r:id="rId76"/>
    <p:sldId id="333" r:id="rId77"/>
    <p:sldId id="334" r:id="rId78"/>
    <p:sldId id="335" r:id="rId79"/>
    <p:sldId id="336" r:id="rId80"/>
  </p:sldIdLst>
  <p:sldSz cx="12344400" cy="6400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180" autoAdjust="0"/>
    <p:restoredTop sz="93203" autoAdjust="0"/>
  </p:normalViewPr>
  <p:slideViewPr>
    <p:cSldViewPr>
      <p:cViewPr>
        <p:scale>
          <a:sx n="66" d="100"/>
          <a:sy n="66" d="100"/>
        </p:scale>
        <p:origin x="-744" y="-96"/>
      </p:cViewPr>
      <p:guideLst>
        <p:guide orient="horz" pos="2016"/>
        <p:guide pos="3888"/>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25830" y="1988397"/>
            <a:ext cx="10492740" cy="1372023"/>
          </a:xfrm>
        </p:spPr>
        <p:txBody>
          <a:bodyPr/>
          <a:lstStyle/>
          <a:p>
            <a:r>
              <a:rPr lang="en-US" smtClean="0"/>
              <a:t>Click to edit Master title style</a:t>
            </a:r>
            <a:endParaRPr lang="en-US"/>
          </a:p>
        </p:txBody>
      </p:sp>
      <p:sp>
        <p:nvSpPr>
          <p:cNvPr id="3" name="Subtitle 2"/>
          <p:cNvSpPr>
            <a:spLocks noGrp="1"/>
          </p:cNvSpPr>
          <p:nvPr>
            <p:ph type="subTitle" idx="1"/>
          </p:nvPr>
        </p:nvSpPr>
        <p:spPr>
          <a:xfrm>
            <a:off x="1851660" y="3627120"/>
            <a:ext cx="8641080" cy="163576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F03F7EE-9188-460F-A5D6-4FF98F619603}" type="datetimeFigureOut">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3F7EE-9188-460F-A5D6-4FF98F619603}" type="datetimeFigureOut">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5123" y="4113108"/>
            <a:ext cx="10492740" cy="127127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75123" y="2712933"/>
            <a:ext cx="10492740" cy="140017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3F7EE-9188-460F-A5D6-4FF98F619603}" type="datetimeFigureOut">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3676" y="1453516"/>
            <a:ext cx="7395924" cy="411162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435342" y="1453516"/>
            <a:ext cx="7395925" cy="411162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F03F7EE-9188-460F-A5D6-4FF98F619603}" type="datetimeFigureOut">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7220" y="256329"/>
            <a:ext cx="11109960" cy="10668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17220" y="1432773"/>
            <a:ext cx="5454254" cy="5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17220" y="2029883"/>
            <a:ext cx="5454254" cy="36878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270785" y="1432773"/>
            <a:ext cx="5456396" cy="5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70785" y="2029883"/>
            <a:ext cx="5456396" cy="36878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03F7EE-9188-460F-A5D6-4FF98F619603}" type="datetimeFigureOut">
              <a:rPr lang="en-US" smtClean="0"/>
              <a:pPr/>
              <a:t>5/6/2023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F03F7EE-9188-460F-A5D6-4FF98F619603}" type="datetimeFigureOut">
              <a:rPr lang="en-US" smtClean="0"/>
              <a:pPr/>
              <a:t>5/6/2023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3F7EE-9188-460F-A5D6-4FF98F619603}" type="datetimeFigureOut">
              <a:rPr lang="en-US" smtClean="0"/>
              <a:pPr/>
              <a:t>5/6/2023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7221" y="254846"/>
            <a:ext cx="4061223" cy="108458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826318" y="254848"/>
            <a:ext cx="6900863" cy="546290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17221" y="1339426"/>
            <a:ext cx="4061223" cy="43783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3F7EE-9188-460F-A5D6-4FF98F619603}" type="datetimeFigureOut">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19589" y="4480561"/>
            <a:ext cx="7406640" cy="528955"/>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419589" y="571924"/>
            <a:ext cx="7406640" cy="384048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419589" y="5009516"/>
            <a:ext cx="7406640" cy="75120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3F7EE-9188-460F-A5D6-4FF98F619603}" type="datetimeFigureOut">
              <a:rPr lang="en-US" smtClean="0"/>
              <a:pPr/>
              <a:t>5/6/2023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3F7EE-9188-460F-A5D6-4FF98F619603}" type="datetimeFigureOut">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082939" y="248920"/>
            <a:ext cx="3748326" cy="53162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3677" y="248920"/>
            <a:ext cx="11043522" cy="53162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3F7EE-9188-460F-A5D6-4FF98F619603}" type="datetimeFigureOut">
              <a:rPr lang="en-US" smtClean="0"/>
              <a:pPr/>
              <a:t>5/6/2023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936990-79CA-4EF0-8546-E74E14C4623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7220" y="256329"/>
            <a:ext cx="11109960" cy="10668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17220" y="1493520"/>
            <a:ext cx="11109960" cy="422423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17220" y="5932595"/>
            <a:ext cx="2880360" cy="340783"/>
          </a:xfrm>
          <a:prstGeom prst="rect">
            <a:avLst/>
          </a:prstGeom>
        </p:spPr>
        <p:txBody>
          <a:bodyPr vert="horz" lIns="91440" tIns="45720" rIns="91440" bIns="45720" rtlCol="0" anchor="ctr"/>
          <a:lstStyle>
            <a:lvl1pPr algn="l">
              <a:defRPr sz="1200">
                <a:solidFill>
                  <a:schemeClr val="tx1">
                    <a:tint val="75000"/>
                  </a:schemeClr>
                </a:solidFill>
              </a:defRPr>
            </a:lvl1pPr>
          </a:lstStyle>
          <a:p>
            <a:fld id="{BF03F7EE-9188-460F-A5D6-4FF98F619603}" type="datetimeFigureOut">
              <a:rPr lang="en-US" smtClean="0"/>
              <a:pPr/>
              <a:t>5/6/2023</a:t>
            </a:fld>
            <a:endParaRPr lang="en-US"/>
          </a:p>
        </p:txBody>
      </p:sp>
      <p:sp>
        <p:nvSpPr>
          <p:cNvPr id="5" name="Footer Placeholder 4"/>
          <p:cNvSpPr>
            <a:spLocks noGrp="1"/>
          </p:cNvSpPr>
          <p:nvPr>
            <p:ph type="ftr" sz="quarter" idx="3"/>
          </p:nvPr>
        </p:nvSpPr>
        <p:spPr>
          <a:xfrm>
            <a:off x="4217670" y="5932595"/>
            <a:ext cx="3909060" cy="3407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846820" y="5932595"/>
            <a:ext cx="2880360" cy="340783"/>
          </a:xfrm>
          <a:prstGeom prst="rect">
            <a:avLst/>
          </a:prstGeom>
        </p:spPr>
        <p:txBody>
          <a:bodyPr vert="horz" lIns="91440" tIns="45720" rIns="91440" bIns="45720" rtlCol="0" anchor="ctr"/>
          <a:lstStyle>
            <a:lvl1pPr algn="r">
              <a:defRPr sz="1200">
                <a:solidFill>
                  <a:schemeClr val="tx1">
                    <a:tint val="75000"/>
                  </a:schemeClr>
                </a:solidFill>
              </a:defRPr>
            </a:lvl1pPr>
          </a:lstStyle>
          <a:p>
            <a:fld id="{44936990-79CA-4EF0-8546-E74E14C4623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ibm.com/topics/artificial-intelligenc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394711" y="497841"/>
            <a:ext cx="5701078" cy="1137920"/>
          </a:xfrm>
          <a:prstGeom prst="rect">
            <a:avLst/>
          </a:prstGeom>
        </p:spPr>
      </p:pic>
      <p:sp>
        <p:nvSpPr>
          <p:cNvPr id="5" name="Title 1"/>
          <p:cNvSpPr txBox="1">
            <a:spLocks/>
          </p:cNvSpPr>
          <p:nvPr/>
        </p:nvSpPr>
        <p:spPr>
          <a:xfrm>
            <a:off x="1295401" y="2396685"/>
            <a:ext cx="10184131" cy="1849120"/>
          </a:xfrm>
          <a:prstGeom prst="rect">
            <a:avLst/>
          </a:prstGeom>
          <a:solidFill>
            <a:schemeClr val="accent2">
              <a:lumMod val="40000"/>
              <a:lumOff val="60000"/>
            </a:schemeClr>
          </a:solidFill>
        </p:spPr>
        <p:txBody>
          <a:bodyPr vert="horz" lIns="121725" tIns="60862" rIns="121725" bIns="60862" rtlCol="0" anchor="ctr">
            <a:normAutofit fontScale="85000" lnSpcReduction="10000"/>
          </a:bodyPr>
          <a:lstStyle/>
          <a:p>
            <a:pPr algn="ctr">
              <a:spcBef>
                <a:spcPct val="0"/>
              </a:spcBef>
            </a:pPr>
            <a:r>
              <a:rPr lang="en-US" sz="5900" b="1" dirty="0" smtClean="0">
                <a:latin typeface="Book Antiqua" panose="02040602050305030304" pitchFamily="18" charset="0"/>
                <a:ea typeface="+mj-ea"/>
                <a:cs typeface="+mj-cs"/>
              </a:rPr>
              <a:t>Data Science &amp; Machine Learning </a:t>
            </a:r>
            <a:br>
              <a:rPr lang="en-US" sz="5900" b="1" dirty="0" smtClean="0">
                <a:latin typeface="Book Antiqua" panose="02040602050305030304" pitchFamily="18" charset="0"/>
                <a:ea typeface="+mj-ea"/>
                <a:cs typeface="+mj-cs"/>
              </a:rPr>
            </a:br>
            <a:endParaRPr lang="en-US" sz="5900" dirty="0">
              <a:latin typeface="Baskerville Old Face" panose="02020602080505020303" pitchFamily="18" charset="0"/>
              <a:ea typeface="+mj-ea"/>
              <a:cs typeface="+mj-cs"/>
            </a:endParaRPr>
          </a:p>
        </p:txBody>
      </p:sp>
      <p:sp>
        <p:nvSpPr>
          <p:cNvPr id="8" name="TextBox 7"/>
          <p:cNvSpPr txBox="1"/>
          <p:nvPr/>
        </p:nvSpPr>
        <p:spPr>
          <a:xfrm>
            <a:off x="2895601" y="5973074"/>
            <a:ext cx="9448800"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smtClean="0"/>
              <a:t>www.brainybeam.com                                                     Email Id: sagar@brainybeam.in</a:t>
            </a:r>
            <a:endParaRPr lang="en-US" sz="2100" b="1" dirty="0"/>
          </a:p>
        </p:txBody>
      </p:sp>
      <p:pic>
        <p:nvPicPr>
          <p:cNvPr id="9" name="Picture 8"/>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 y="5687645"/>
            <a:ext cx="2804317" cy="7131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11109960" cy="1066800"/>
          </a:xfrm>
        </p:spPr>
        <p:txBody>
          <a:bodyPr>
            <a:noAutofit/>
          </a:bodyPr>
          <a:lstStyle/>
          <a:p>
            <a:r>
              <a:rPr lang="en-US" sz="3200" b="1" dirty="0" smtClean="0">
                <a:latin typeface="Arial" pitchFamily="34" charset="0"/>
                <a:cs typeface="Arial" pitchFamily="34" charset="0"/>
              </a:rPr>
              <a:t>1.Data Structure and Mathematical Operations using </a:t>
            </a:r>
            <a:r>
              <a:rPr lang="en-US" sz="3200" b="1" dirty="0" smtClean="0">
                <a:solidFill>
                  <a:srgbClr val="FF0000"/>
                </a:solidFill>
                <a:latin typeface="Arial" pitchFamily="34" charset="0"/>
                <a:cs typeface="Arial" pitchFamily="34" charset="0"/>
              </a:rPr>
              <a:t>NumPy</a:t>
            </a:r>
            <a:br>
              <a:rPr lang="en-US" sz="3200" b="1" dirty="0" smtClean="0">
                <a:solidFill>
                  <a:srgbClr val="FF0000"/>
                </a:solidFill>
                <a:latin typeface="Arial" pitchFamily="34" charset="0"/>
                <a:cs typeface="Arial" pitchFamily="34" charset="0"/>
              </a:rPr>
            </a:br>
            <a:endParaRPr lang="en-US" sz="3200" b="1" dirty="0">
              <a:latin typeface="Arial" pitchFamily="34" charset="0"/>
              <a:cs typeface="Arial" pitchFamily="34" charset="0"/>
            </a:endParaRPr>
          </a:p>
        </p:txBody>
      </p:sp>
      <p:sp>
        <p:nvSpPr>
          <p:cNvPr id="3" name="Content Placeholder 2"/>
          <p:cNvSpPr>
            <a:spLocks noGrp="1"/>
          </p:cNvSpPr>
          <p:nvPr>
            <p:ph idx="1"/>
          </p:nvPr>
        </p:nvSpPr>
        <p:spPr>
          <a:xfrm>
            <a:off x="680787" y="1351280"/>
            <a:ext cx="11109960" cy="4693920"/>
          </a:xfrm>
        </p:spPr>
        <p:txBody>
          <a:bodyPr>
            <a:noAutofit/>
          </a:bodyPr>
          <a:lstStyle/>
          <a:p>
            <a:pPr algn="just"/>
            <a:r>
              <a:rPr lang="en-US" sz="3200" dirty="0">
                <a:solidFill>
                  <a:srgbClr val="FF0000"/>
                </a:solidFill>
                <a:latin typeface="Arial" pitchFamily="34" charset="0"/>
                <a:cs typeface="Arial" pitchFamily="34" charset="0"/>
              </a:rPr>
              <a:t>NumPy</a:t>
            </a:r>
            <a:r>
              <a:rPr lang="en-US" sz="3200" dirty="0">
                <a:latin typeface="Arial" pitchFamily="34" charset="0"/>
                <a:cs typeface="Arial" pitchFamily="34" charset="0"/>
              </a:rPr>
              <a:t>: Explain what NumPy is and how it is used in Python. Discuss its features, such as its array data structure and ability to perform mathematical operations</a:t>
            </a:r>
            <a:r>
              <a:rPr lang="en-US" sz="3200" dirty="0" smtClean="0">
                <a:latin typeface="Arial" pitchFamily="34" charset="0"/>
                <a:cs typeface="Arial" pitchFamily="34" charset="0"/>
              </a:rPr>
              <a:t>.</a:t>
            </a:r>
          </a:p>
          <a:p>
            <a:pPr algn="just"/>
            <a:r>
              <a:rPr lang="en-US" sz="3200" dirty="0" smtClean="0">
                <a:latin typeface="Arial" pitchFamily="34" charset="0"/>
                <a:cs typeface="Arial" pitchFamily="34" charset="0"/>
              </a:rPr>
              <a:t>pip install numpy </a:t>
            </a:r>
            <a:endParaRPr lang="en-US" sz="3200" dirty="0">
              <a:latin typeface="Arial" pitchFamily="34" charset="0"/>
              <a:cs typeface="Arial" pitchFamily="34" charset="0"/>
            </a:endParaRPr>
          </a:p>
        </p:txBody>
      </p:sp>
      <p:pic>
        <p:nvPicPr>
          <p:cNvPr id="6" name="Picture 4" descr="NumPy Crash Course — How to Build Powerful n-Dimensional Arrays with ...">
            <a:extLst>
              <a:ext uri="{FF2B5EF4-FFF2-40B4-BE49-F238E27FC236}">
                <a16:creationId xmlns="" xmlns:a16="http://schemas.microsoft.com/office/drawing/2014/main" id="{63EA45C1-09FC-3E91-C52D-F34ED63385AC}"/>
              </a:ext>
            </a:extLst>
          </p:cNvP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590800" y="3429000"/>
            <a:ext cx="7067320" cy="2625343"/>
          </a:xfrm>
          <a:prstGeom prst="rect">
            <a:avLst/>
          </a:prstGeom>
          <a:noFill/>
          <a:extLst>
            <a:ext uri="{909E8E84-426E-40DD-AFC4-6F175D3DCCD1}">
              <a14:hiddenFill xmlns="" xmlns:a14="http://schemas.microsoft.com/office/drawing/2010/main">
                <a:solidFill>
                  <a:srgbClr val="FFFFFF"/>
                </a:solidFill>
              </a14:hiddenFill>
            </a:ext>
          </a:extLst>
        </p:spPr>
      </p:pic>
      <p:sp>
        <p:nvSpPr>
          <p:cNvPr id="9" name="TextBox 8"/>
          <p:cNvSpPr txBox="1"/>
          <p:nvPr/>
        </p:nvSpPr>
        <p:spPr>
          <a:xfrm>
            <a:off x="2691729" y="5979490"/>
            <a:ext cx="9652673"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10" name="Picture 9"/>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 y="5706631"/>
            <a:ext cx="2604296" cy="6941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A014253A-1791-2BD1-C151-F2820CB088D5}"/>
              </a:ext>
            </a:extLst>
          </p:cNvPr>
          <p:cNvPicPr>
            <a:picLocks noChangeAspect="1"/>
          </p:cNvPicPr>
          <p:nvPr/>
        </p:nvPicPr>
        <p:blipFill>
          <a:blip r:embed="rId2">
            <a:extLst>
              <a:ext uri="{28A0092B-C50C-407E-A947-70E740481C1C}">
                <a14:useLocalDpi xmlns:a14="http://schemas.microsoft.com/office/drawing/2010/main" xmlns="" val="0"/>
              </a:ext>
            </a:extLst>
          </a:blip>
          <a:srcRect l="908" t="2393" r="1758"/>
          <a:stretch>
            <a:fillRect/>
          </a:stretch>
        </p:blipFill>
        <p:spPr>
          <a:xfrm>
            <a:off x="2133600" y="533400"/>
            <a:ext cx="8001000" cy="5032228"/>
          </a:xfrm>
          <a:prstGeom prst="rect">
            <a:avLst/>
          </a:prstGeom>
        </p:spPr>
      </p:pic>
      <p:sp>
        <p:nvSpPr>
          <p:cNvPr id="5" name="TextBox 4"/>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 name="Picture 4" descr="NumPy Crash Course — How to Build Powerful n-Dimensional Arrays with ...">
            <a:extLst>
              <a:ext uri="{FF2B5EF4-FFF2-40B4-BE49-F238E27FC236}">
                <a16:creationId xmlns="" xmlns:a16="http://schemas.microsoft.com/office/drawing/2014/main" id="{63EA45C1-09FC-3E91-C52D-F34ED63385AC}"/>
              </a:ext>
            </a:extLst>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0140240" y="4191000"/>
            <a:ext cx="2204160" cy="18288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Picture 5">
            <a:extLst>
              <a:ext uri="{FF2B5EF4-FFF2-40B4-BE49-F238E27FC236}">
                <a16:creationId xmlns:a16="http://schemas.microsoft.com/office/drawing/2014/main" xmlns="" id="{A820E4B9-05CE-5102-8BF1-605BE1F1CF06}"/>
              </a:ext>
            </a:extLst>
          </p:cNvPr>
          <p:cNvPicPr>
            <a:picLocks noChangeAspect="1"/>
          </p:cNvPicPr>
          <p:nvPr/>
        </p:nvPicPr>
        <p:blipFill>
          <a:blip r:embed="rId3">
            <a:extLst>
              <a:ext uri="{28A0092B-C50C-407E-A947-70E740481C1C}">
                <a14:useLocalDpi xmlns:a14="http://schemas.microsoft.com/office/drawing/2010/main" xmlns="" val="0"/>
              </a:ext>
            </a:extLst>
          </a:blip>
          <a:srcRect r="9330"/>
          <a:stretch>
            <a:fillRect/>
          </a:stretch>
        </p:blipFill>
        <p:spPr>
          <a:xfrm>
            <a:off x="1981200" y="304800"/>
            <a:ext cx="8153400" cy="5442921"/>
          </a:xfrm>
          <a:prstGeom prst="rect">
            <a:avLst/>
          </a:prstGeom>
        </p:spPr>
      </p:pic>
      <p:pic>
        <p:nvPicPr>
          <p:cNvPr id="7" name="Picture 4" descr="NumPy Crash Course — How to Build Powerful n-Dimensional Arrays with ...">
            <a:extLst>
              <a:ext uri="{FF2B5EF4-FFF2-40B4-BE49-F238E27FC236}">
                <a16:creationId xmlns="" xmlns:a16="http://schemas.microsoft.com/office/drawing/2014/main" id="{63EA45C1-09FC-3E91-C52D-F34ED63385AC}"/>
              </a:ext>
            </a:extLst>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0140240" y="4191000"/>
            <a:ext cx="2204160" cy="182880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latin typeface="Arial" pitchFamily="34" charset="0"/>
                <a:cs typeface="Arial" pitchFamily="34" charset="0"/>
              </a:rPr>
              <a:t>Analyzing ,Cleaning ,Exploration &amp; Manipulation of data using </a:t>
            </a:r>
            <a:r>
              <a:rPr lang="en-US" sz="3200" dirty="0" smtClean="0">
                <a:solidFill>
                  <a:srgbClr val="FF0000"/>
                </a:solidFill>
                <a:latin typeface="Arial" pitchFamily="34" charset="0"/>
                <a:cs typeface="Arial" pitchFamily="34" charset="0"/>
              </a:rPr>
              <a:t>Pandas</a:t>
            </a:r>
            <a:endParaRPr lang="en-US" sz="3200" dirty="0">
              <a:solidFill>
                <a:srgbClr val="FF0000"/>
              </a:solidFill>
              <a:latin typeface="Arial" pitchFamily="34" charset="0"/>
              <a:cs typeface="Arial" pitchFamily="34" charset="0"/>
            </a:endParaRPr>
          </a:p>
        </p:txBody>
      </p:sp>
      <p:sp>
        <p:nvSpPr>
          <p:cNvPr id="3" name="Content Placeholder 2"/>
          <p:cNvSpPr>
            <a:spLocks noGrp="1"/>
          </p:cNvSpPr>
          <p:nvPr>
            <p:ph idx="1"/>
          </p:nvPr>
        </p:nvSpPr>
        <p:spPr/>
        <p:txBody>
          <a:bodyPr/>
          <a:lstStyle/>
          <a:p>
            <a:pPr algn="just"/>
            <a:r>
              <a:rPr lang="en-US" sz="2400" dirty="0">
                <a:solidFill>
                  <a:srgbClr val="FF0000"/>
                </a:solidFill>
                <a:latin typeface="Arial" pitchFamily="34" charset="0"/>
                <a:cs typeface="Arial" pitchFamily="34" charset="0"/>
              </a:rPr>
              <a:t>Pandas</a:t>
            </a:r>
            <a:r>
              <a:rPr lang="en-US" sz="2400" dirty="0">
                <a:latin typeface="Arial" pitchFamily="34" charset="0"/>
                <a:cs typeface="Arial" pitchFamily="34" charset="0"/>
              </a:rPr>
              <a:t> is a popular open-source data analysis library for the Python programming language. It is designed to </a:t>
            </a:r>
            <a:r>
              <a:rPr lang="en-US" sz="2400" dirty="0" smtClean="0">
                <a:latin typeface="Arial" pitchFamily="34" charset="0"/>
                <a:cs typeface="Arial" pitchFamily="34" charset="0"/>
              </a:rPr>
              <a:t>handle structured data and provides powerful </a:t>
            </a:r>
            <a:r>
              <a:rPr lang="en-US" sz="2400" dirty="0" smtClean="0">
                <a:solidFill>
                  <a:srgbClr val="FF0000"/>
                </a:solidFill>
                <a:latin typeface="Arial" pitchFamily="34" charset="0"/>
                <a:cs typeface="Arial" pitchFamily="34" charset="0"/>
              </a:rPr>
              <a:t>data </a:t>
            </a:r>
            <a:r>
              <a:rPr lang="en-US" sz="2400" dirty="0">
                <a:solidFill>
                  <a:srgbClr val="FF0000"/>
                </a:solidFill>
                <a:latin typeface="Arial" pitchFamily="34" charset="0"/>
                <a:cs typeface="Arial" pitchFamily="34" charset="0"/>
              </a:rPr>
              <a:t>manipulation and analysis </a:t>
            </a:r>
            <a:r>
              <a:rPr lang="en-US" sz="2400" dirty="0" smtClean="0">
                <a:solidFill>
                  <a:srgbClr val="FF0000"/>
                </a:solidFill>
                <a:latin typeface="Arial" pitchFamily="34" charset="0"/>
                <a:cs typeface="Arial" pitchFamily="34" charset="0"/>
              </a:rPr>
              <a:t>capabilities</a:t>
            </a:r>
            <a:r>
              <a:rPr lang="en-US" sz="2400" dirty="0">
                <a:latin typeface="Arial" pitchFamily="34" charset="0"/>
                <a:cs typeface="Arial" pitchFamily="34" charset="0"/>
              </a:rPr>
              <a:t>.</a:t>
            </a:r>
          </a:p>
          <a:p>
            <a:pPr algn="just"/>
            <a:r>
              <a:rPr lang="en-US" sz="2400" dirty="0">
                <a:latin typeface="Arial" pitchFamily="34" charset="0"/>
                <a:cs typeface="Arial" pitchFamily="34" charset="0"/>
              </a:rPr>
              <a:t>With Pandas, you can easily read in and write out data from various formats such as </a:t>
            </a:r>
            <a:r>
              <a:rPr lang="en-US" sz="2400" dirty="0">
                <a:solidFill>
                  <a:srgbClr val="FF0000"/>
                </a:solidFill>
                <a:latin typeface="Arial" pitchFamily="34" charset="0"/>
                <a:cs typeface="Arial" pitchFamily="34" charset="0"/>
              </a:rPr>
              <a:t>CSV, Excel, SQL databases</a:t>
            </a:r>
            <a:r>
              <a:rPr lang="en-US" sz="2400" dirty="0">
                <a:latin typeface="Arial" pitchFamily="34" charset="0"/>
                <a:cs typeface="Arial" pitchFamily="34" charset="0"/>
              </a:rPr>
              <a:t>, and more. It also provides a range of functions for cleaning and transforming data, handling missing values, and handling </a:t>
            </a:r>
            <a:r>
              <a:rPr lang="en-US" sz="2400" dirty="0" err="1" smtClean="0">
                <a:latin typeface="Arial" pitchFamily="34" charset="0"/>
                <a:cs typeface="Arial" pitchFamily="34" charset="0"/>
              </a:rPr>
              <a:t>DateTime</a:t>
            </a:r>
            <a:r>
              <a:rPr lang="en-US" sz="2400" dirty="0" smtClean="0">
                <a:latin typeface="Arial" pitchFamily="34" charset="0"/>
                <a:cs typeface="Arial" pitchFamily="34" charset="0"/>
              </a:rPr>
              <a:t> </a:t>
            </a:r>
            <a:r>
              <a:rPr lang="en-US" sz="2400" dirty="0">
                <a:latin typeface="Arial" pitchFamily="34" charset="0"/>
                <a:cs typeface="Arial" pitchFamily="34" charset="0"/>
              </a:rPr>
              <a:t>data.</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Picture 2" descr="A Quick Introduction to the “Pandas” Python Library">
            <a:extLst>
              <a:ext uri="{FF2B5EF4-FFF2-40B4-BE49-F238E27FC236}">
                <a16:creationId xmlns:a16="http://schemas.microsoft.com/office/drawing/2014/main" xmlns="" id="{61D14D4E-E82B-B06C-A457-FB2FA9CB6985}"/>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305800" y="3733800"/>
            <a:ext cx="4038600" cy="220132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Content Placeholder 14">
            <a:extLst>
              <a:ext uri="{FF2B5EF4-FFF2-40B4-BE49-F238E27FC236}">
                <a16:creationId xmlns:a16="http://schemas.microsoft.com/office/drawing/2014/main" xmlns="" id="{A1A35A04-6349-40EE-337D-8DE8C176AD76}"/>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rcRect l="2179" t="2493"/>
          <a:stretch>
            <a:fillRect/>
          </a:stretch>
        </p:blipFill>
        <p:spPr>
          <a:xfrm>
            <a:off x="2590800" y="304800"/>
            <a:ext cx="7086600" cy="5523985"/>
          </a:xfrm>
        </p:spPr>
      </p:pic>
      <p:pic>
        <p:nvPicPr>
          <p:cNvPr id="7" name="Picture 2" descr="A Quick Introduction to the “Pandas” Python Library">
            <a:extLst>
              <a:ext uri="{FF2B5EF4-FFF2-40B4-BE49-F238E27FC236}">
                <a16:creationId xmlns:a16="http://schemas.microsoft.com/office/drawing/2014/main" xmlns="" id="{61D14D4E-E82B-B06C-A457-FB2FA9CB6985}"/>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9601200" y="3733800"/>
            <a:ext cx="2743200" cy="220132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8" name="Content Placeholder 7" descr="Screenshot (40).png"/>
          <p:cNvPicPr>
            <a:picLocks noGrp="1" noChangeAspect="1"/>
          </p:cNvPicPr>
          <p:nvPr>
            <p:ph idx="1"/>
          </p:nvPr>
        </p:nvPicPr>
        <p:blipFill>
          <a:blip r:embed="rId3"/>
          <a:srcRect l="27678" t="20556" r="28692" b="16310"/>
          <a:stretch>
            <a:fillRect/>
          </a:stretch>
        </p:blipFill>
        <p:spPr>
          <a:xfrm>
            <a:off x="2514600" y="381000"/>
            <a:ext cx="6553200" cy="5334000"/>
          </a:xfrm>
        </p:spPr>
      </p:pic>
      <p:pic>
        <p:nvPicPr>
          <p:cNvPr id="9" name="Picture 2" descr="A Quick Introduction to the “Pandas” Python Library">
            <a:extLst>
              <a:ext uri="{FF2B5EF4-FFF2-40B4-BE49-F238E27FC236}">
                <a16:creationId xmlns:a16="http://schemas.microsoft.com/office/drawing/2014/main" xmlns="" id="{61D14D4E-E82B-B06C-A457-FB2FA9CB6985}"/>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9601200" y="3733800"/>
            <a:ext cx="2743200" cy="220132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Picture 5" descr="Screenshot (41).png"/>
          <p:cNvPicPr>
            <a:picLocks noChangeAspect="1"/>
          </p:cNvPicPr>
          <p:nvPr/>
        </p:nvPicPr>
        <p:blipFill>
          <a:blip r:embed="rId3"/>
          <a:srcRect l="27455" t="21429" r="28349" b="7143"/>
          <a:stretch>
            <a:fillRect/>
          </a:stretch>
        </p:blipFill>
        <p:spPr>
          <a:xfrm>
            <a:off x="2819400" y="152400"/>
            <a:ext cx="6248400" cy="5680364"/>
          </a:xfrm>
          <a:prstGeom prst="rect">
            <a:avLst/>
          </a:prstGeom>
        </p:spPr>
      </p:pic>
      <p:pic>
        <p:nvPicPr>
          <p:cNvPr id="7" name="Picture 2" descr="A Quick Introduction to the “Pandas” Python Library">
            <a:extLst>
              <a:ext uri="{FF2B5EF4-FFF2-40B4-BE49-F238E27FC236}">
                <a16:creationId xmlns:a16="http://schemas.microsoft.com/office/drawing/2014/main" xmlns="" id="{61D14D4E-E82B-B06C-A457-FB2FA9CB6985}"/>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9601200" y="3733800"/>
            <a:ext cx="2743200" cy="220132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Encoding Techniques- </a:t>
            </a:r>
            <a:r>
              <a:rPr lang="en-US" dirty="0" smtClean="0">
                <a:solidFill>
                  <a:srgbClr val="FF0000"/>
                </a:solidFill>
              </a:rPr>
              <a:t>Label Encoding &amp; One-hot Encoder</a:t>
            </a:r>
            <a:endParaRPr lang="en-US" dirty="0">
              <a:solidFill>
                <a:srgbClr val="FF0000"/>
              </a:solidFill>
            </a:endParaRPr>
          </a:p>
        </p:txBody>
      </p:sp>
      <p:sp>
        <p:nvSpPr>
          <p:cNvPr id="3" name="Content Placeholder 2"/>
          <p:cNvSpPr>
            <a:spLocks noGrp="1"/>
          </p:cNvSpPr>
          <p:nvPr>
            <p:ph idx="1"/>
          </p:nvPr>
        </p:nvSpPr>
        <p:spPr/>
        <p:txBody>
          <a:bodyPr>
            <a:normAutofit fontScale="77500" lnSpcReduction="20000"/>
          </a:bodyPr>
          <a:lstStyle/>
          <a:p>
            <a:pPr algn="just">
              <a:buNone/>
            </a:pPr>
            <a:r>
              <a:rPr lang="en-US" dirty="0">
                <a:solidFill>
                  <a:srgbClr val="FF0000"/>
                </a:solidFill>
                <a:latin typeface="Arial" pitchFamily="34" charset="0"/>
                <a:cs typeface="Arial" pitchFamily="34" charset="0"/>
              </a:rPr>
              <a:t>Label Encoding:</a:t>
            </a:r>
          </a:p>
          <a:p>
            <a:pPr algn="just"/>
            <a:r>
              <a:rPr lang="en-US" dirty="0">
                <a:latin typeface="Arial" pitchFamily="34" charset="0"/>
                <a:cs typeface="Arial" pitchFamily="34" charset="0"/>
              </a:rPr>
              <a:t>Label Encoding is a technique used to convert categorical data into numerical data.</a:t>
            </a:r>
          </a:p>
          <a:p>
            <a:pPr algn="just"/>
            <a:r>
              <a:rPr lang="en-US" dirty="0">
                <a:latin typeface="Arial" pitchFamily="34" charset="0"/>
                <a:cs typeface="Arial" pitchFamily="34" charset="0"/>
              </a:rPr>
              <a:t>It assigns a unique numerical value to each category present in the categorical variable.</a:t>
            </a:r>
          </a:p>
          <a:p>
            <a:pPr algn="just"/>
            <a:r>
              <a:rPr lang="en-US" dirty="0">
                <a:latin typeface="Arial" pitchFamily="34" charset="0"/>
                <a:cs typeface="Arial" pitchFamily="34" charset="0"/>
              </a:rPr>
              <a:t>It is useful for ordinal categorical data, where the categories have a natural ordering, such as small, medium, large.</a:t>
            </a:r>
          </a:p>
          <a:p>
            <a:pPr algn="just"/>
            <a:r>
              <a:rPr lang="en-US" dirty="0">
                <a:latin typeface="Arial" pitchFamily="34" charset="0"/>
                <a:cs typeface="Arial" pitchFamily="34" charset="0"/>
              </a:rPr>
              <a:t>Label Encoding can lead to the false assumption of a natural ordering between categories, which can affect the performance of certain machine learning algorithms.</a:t>
            </a:r>
          </a:p>
          <a:p>
            <a:pPr algn="just"/>
            <a:r>
              <a:rPr lang="en-US" dirty="0">
                <a:latin typeface="Arial" pitchFamily="34" charset="0"/>
                <a:cs typeface="Arial" pitchFamily="34" charset="0"/>
              </a:rPr>
              <a:t>It is straightforward to implement and can be easily used in a variety of machine learning models.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6" name="Picture 2"/>
          <p:cNvPicPr>
            <a:picLocks noChangeAspect="1" noChangeArrowheads="1"/>
          </p:cNvPicPr>
          <p:nvPr/>
        </p:nvPicPr>
        <p:blipFill>
          <a:blip r:embed="rId3"/>
          <a:srcRect l="27500" t="20000" r="28750" b="10000"/>
          <a:stretch>
            <a:fillRect/>
          </a:stretch>
        </p:blipFill>
        <p:spPr bwMode="auto">
          <a:xfrm>
            <a:off x="2743200" y="152400"/>
            <a:ext cx="6350000" cy="5715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762000"/>
            <a:ext cx="11109960" cy="4224233"/>
          </a:xfrm>
        </p:spPr>
        <p:txBody>
          <a:bodyPr>
            <a:normAutofit fontScale="25000" lnSpcReduction="20000"/>
          </a:bodyPr>
          <a:lstStyle/>
          <a:p>
            <a:pPr algn="just">
              <a:buNone/>
            </a:pPr>
            <a:r>
              <a:rPr lang="en-US" sz="9600" dirty="0">
                <a:solidFill>
                  <a:srgbClr val="FF0000"/>
                </a:solidFill>
                <a:latin typeface="Arial" pitchFamily="34" charset="0"/>
                <a:cs typeface="Arial" pitchFamily="34" charset="0"/>
              </a:rPr>
              <a:t>One-Hot Encoding:</a:t>
            </a:r>
          </a:p>
          <a:p>
            <a:pPr algn="just"/>
            <a:r>
              <a:rPr lang="en-US" sz="9600" dirty="0">
                <a:latin typeface="Arial" pitchFamily="34" charset="0"/>
                <a:cs typeface="Arial" pitchFamily="34" charset="0"/>
              </a:rPr>
              <a:t>One-Hot Encoding is a technique used to convert categorical data into a binary representation.</a:t>
            </a:r>
          </a:p>
          <a:p>
            <a:pPr algn="just"/>
            <a:r>
              <a:rPr lang="en-US" sz="9600" dirty="0">
                <a:latin typeface="Arial" pitchFamily="34" charset="0"/>
                <a:cs typeface="Arial" pitchFamily="34" charset="0"/>
              </a:rPr>
              <a:t>It creates a new binary column for each category present in the categorical variable and assigns a value of 1 to the corresponding column for each observation.</a:t>
            </a:r>
          </a:p>
          <a:p>
            <a:pPr algn="just"/>
            <a:r>
              <a:rPr lang="en-US" sz="9600" dirty="0" smtClean="0">
                <a:latin typeface="Arial" pitchFamily="34" charset="0"/>
                <a:cs typeface="Arial" pitchFamily="34" charset="0"/>
              </a:rPr>
              <a:t>One-Hot </a:t>
            </a:r>
            <a:r>
              <a:rPr lang="en-US" sz="9600" dirty="0">
                <a:latin typeface="Arial" pitchFamily="34" charset="0"/>
                <a:cs typeface="Arial" pitchFamily="34" charset="0"/>
              </a:rPr>
              <a:t>Encoding avoids the false assumption of a natural ordering between categories, and it can be easily used in a variety of machine learning models.</a:t>
            </a:r>
          </a:p>
          <a:p>
            <a:pPr algn="just"/>
            <a:r>
              <a:rPr lang="en-US" sz="9600" dirty="0">
                <a:latin typeface="Arial" pitchFamily="34" charset="0"/>
                <a:cs typeface="Arial" pitchFamily="34" charset="0"/>
              </a:rPr>
              <a:t>However, One-Hot Encoding can lead to the curse of dimensionality, where the number of features increases significantly when there are many categories, which can affect the performance of some machine learning algorithms.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2050" name="Picture 2"/>
          <p:cNvPicPr>
            <a:picLocks noChangeAspect="1" noChangeArrowheads="1"/>
          </p:cNvPicPr>
          <p:nvPr/>
        </p:nvPicPr>
        <p:blipFill>
          <a:blip r:embed="rId3"/>
          <a:srcRect l="21250" t="21111" r="23750" b="10000"/>
          <a:stretch>
            <a:fillRect/>
          </a:stretch>
        </p:blipFill>
        <p:spPr bwMode="auto">
          <a:xfrm>
            <a:off x="1828800" y="152400"/>
            <a:ext cx="8003459" cy="56388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3074" name="Picture 2"/>
          <p:cNvPicPr>
            <a:picLocks noChangeAspect="1" noChangeArrowheads="1"/>
          </p:cNvPicPr>
          <p:nvPr/>
        </p:nvPicPr>
        <p:blipFill>
          <a:blip r:embed="rId3"/>
          <a:srcRect l="27500" t="21111" r="28750" b="14444"/>
          <a:stretch>
            <a:fillRect/>
          </a:stretch>
        </p:blipFill>
        <p:spPr bwMode="auto">
          <a:xfrm>
            <a:off x="2819400" y="152400"/>
            <a:ext cx="6705600" cy="5556068"/>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Interactive visualization using </a:t>
            </a:r>
            <a:r>
              <a:rPr lang="en-US" sz="4000" dirty="0" smtClean="0">
                <a:solidFill>
                  <a:srgbClr val="FF0000"/>
                </a:solidFill>
              </a:rPr>
              <a:t>Matplotlib</a:t>
            </a:r>
            <a:endParaRPr lang="en-US" sz="4000" dirty="0">
              <a:solidFill>
                <a:srgbClr val="FF0000"/>
              </a:solidFill>
            </a:endParaRPr>
          </a:p>
        </p:txBody>
      </p:sp>
      <p:sp>
        <p:nvSpPr>
          <p:cNvPr id="3" name="Content Placeholder 2"/>
          <p:cNvSpPr>
            <a:spLocks noGrp="1"/>
          </p:cNvSpPr>
          <p:nvPr>
            <p:ph idx="1"/>
          </p:nvPr>
        </p:nvSpPr>
        <p:spPr/>
        <p:txBody>
          <a:bodyPr>
            <a:noAutofit/>
          </a:bodyPr>
          <a:lstStyle/>
          <a:p>
            <a:pPr algn="just"/>
            <a:r>
              <a:rPr lang="en-US" sz="2400" dirty="0">
                <a:latin typeface="Arial" pitchFamily="34" charset="0"/>
                <a:cs typeface="Arial" pitchFamily="34" charset="0"/>
              </a:rPr>
              <a:t>Matplotlib is a Python library for creating data visualizations.</a:t>
            </a:r>
          </a:p>
          <a:p>
            <a:pPr algn="just"/>
            <a:r>
              <a:rPr lang="en-US" sz="2400" dirty="0">
                <a:latin typeface="Arial" pitchFamily="34" charset="0"/>
                <a:cs typeface="Arial" pitchFamily="34" charset="0"/>
              </a:rPr>
              <a:t>It provides a variety of customizable plots, including line plots, scatter plots, bar plots, histograms, and more.</a:t>
            </a:r>
          </a:p>
          <a:p>
            <a:pPr algn="just"/>
            <a:r>
              <a:rPr lang="en-US" sz="2400" dirty="0" smtClean="0">
                <a:latin typeface="Arial" pitchFamily="34" charset="0"/>
                <a:cs typeface="Arial" pitchFamily="34" charset="0"/>
              </a:rPr>
              <a:t>It </a:t>
            </a:r>
            <a:r>
              <a:rPr lang="en-US" sz="2400" dirty="0">
                <a:latin typeface="Arial" pitchFamily="34" charset="0"/>
                <a:cs typeface="Arial" pitchFamily="34" charset="0"/>
              </a:rPr>
              <a:t>can be used in Jupyter notebooks, scripts, and standalone applications.</a:t>
            </a:r>
          </a:p>
          <a:p>
            <a:pPr algn="just"/>
            <a:r>
              <a:rPr lang="en-US" sz="2400" dirty="0">
                <a:latin typeface="Arial" pitchFamily="34" charset="0"/>
                <a:cs typeface="Arial" pitchFamily="34" charset="0"/>
              </a:rPr>
              <a:t>Matplotlib supports a variety of output formats, including PNG, PDF, and SVG.</a:t>
            </a:r>
          </a:p>
          <a:p>
            <a:pPr algn="just"/>
            <a:r>
              <a:rPr lang="en-US" sz="2400" dirty="0">
                <a:latin typeface="Arial" pitchFamily="34" charset="0"/>
                <a:cs typeface="Arial" pitchFamily="34" charset="0"/>
              </a:rPr>
              <a:t>Matplotlib can be integrated with other libraries such as NumPy, Pandas, and SciPy</a:t>
            </a:r>
            <a:r>
              <a:rPr lang="en-US" sz="2400" dirty="0" smtClean="0">
                <a:latin typeface="Arial" pitchFamily="34" charset="0"/>
                <a:cs typeface="Arial" pitchFamily="34" charset="0"/>
              </a:rPr>
              <a:t>.</a:t>
            </a: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Picture 2" descr="Image result for matplotlib library"/>
          <p:cNvPicPr>
            <a:picLocks noChangeAspect="1" noChangeArrowheads="1"/>
          </p:cNvPicPr>
          <p:nvPr/>
        </p:nvPicPr>
        <p:blipFill>
          <a:blip r:embed="rId3"/>
          <a:srcRect/>
          <a:stretch>
            <a:fillRect/>
          </a:stretch>
        </p:blipFill>
        <p:spPr bwMode="auto">
          <a:xfrm>
            <a:off x="2133600" y="4572000"/>
            <a:ext cx="7239000" cy="10382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4098" name="Picture 2"/>
          <p:cNvPicPr>
            <a:picLocks noChangeAspect="1" noChangeArrowheads="1"/>
          </p:cNvPicPr>
          <p:nvPr/>
        </p:nvPicPr>
        <p:blipFill>
          <a:blip r:embed="rId3"/>
          <a:srcRect l="18125" t="25555" r="21250" b="11111"/>
          <a:stretch>
            <a:fillRect/>
          </a:stretch>
        </p:blipFill>
        <p:spPr bwMode="auto">
          <a:xfrm>
            <a:off x="1828800" y="152400"/>
            <a:ext cx="8299116" cy="54102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5122" name="Picture 2"/>
          <p:cNvPicPr>
            <a:picLocks noChangeAspect="1" noChangeArrowheads="1"/>
          </p:cNvPicPr>
          <p:nvPr/>
        </p:nvPicPr>
        <p:blipFill>
          <a:blip r:embed="rId3"/>
          <a:srcRect l="19375" t="24444" r="28750" b="12222"/>
          <a:stretch>
            <a:fillRect/>
          </a:stretch>
        </p:blipFill>
        <p:spPr bwMode="auto">
          <a:xfrm>
            <a:off x="2057400" y="381000"/>
            <a:ext cx="7767053" cy="5334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146" name="Picture 2"/>
          <p:cNvPicPr>
            <a:picLocks noChangeAspect="1" noChangeArrowheads="1"/>
          </p:cNvPicPr>
          <p:nvPr/>
        </p:nvPicPr>
        <p:blipFill>
          <a:blip r:embed="rId3"/>
          <a:srcRect l="17500" t="33333" r="26875" b="10000"/>
          <a:stretch>
            <a:fillRect/>
          </a:stretch>
        </p:blipFill>
        <p:spPr bwMode="auto">
          <a:xfrm>
            <a:off x="1676400" y="381000"/>
            <a:ext cx="8510494" cy="52578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170" name="Picture 2"/>
          <p:cNvPicPr>
            <a:picLocks noChangeAspect="1" noChangeArrowheads="1"/>
          </p:cNvPicPr>
          <p:nvPr/>
        </p:nvPicPr>
        <p:blipFill>
          <a:blip r:embed="rId3"/>
          <a:srcRect l="17500" t="26667" r="30625" b="10000"/>
          <a:stretch>
            <a:fillRect/>
          </a:stretch>
        </p:blipFill>
        <p:spPr bwMode="auto">
          <a:xfrm>
            <a:off x="2362199" y="381000"/>
            <a:ext cx="7656095" cy="52578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8194" name="Picture 2"/>
          <p:cNvPicPr>
            <a:picLocks noChangeAspect="1" noChangeArrowheads="1"/>
          </p:cNvPicPr>
          <p:nvPr/>
        </p:nvPicPr>
        <p:blipFill>
          <a:blip r:embed="rId3"/>
          <a:srcRect l="16250" t="22222" r="31385" b="8889"/>
          <a:stretch>
            <a:fillRect/>
          </a:stretch>
        </p:blipFill>
        <p:spPr bwMode="auto">
          <a:xfrm>
            <a:off x="2133600" y="152400"/>
            <a:ext cx="7620000" cy="56388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Normalization</a:t>
            </a:r>
            <a:r>
              <a:rPr lang="en-US" dirty="0" smtClean="0"/>
              <a:t> Techniques: Min-Max Scaler, MaxAbsScaler ,RobustScaler  &amp; </a:t>
            </a:r>
            <a:r>
              <a:rPr lang="en-US" dirty="0" smtClean="0">
                <a:solidFill>
                  <a:srgbClr val="FF0000"/>
                </a:solidFill>
              </a:rPr>
              <a:t>Standard Scaler</a:t>
            </a:r>
            <a:endParaRPr lang="en-US" dirty="0">
              <a:solidFill>
                <a:srgbClr val="FF0000"/>
              </a:solidFill>
            </a:endParaRPr>
          </a:p>
        </p:txBody>
      </p:sp>
      <p:sp>
        <p:nvSpPr>
          <p:cNvPr id="3" name="Content Placeholder 2"/>
          <p:cNvSpPr>
            <a:spLocks noGrp="1"/>
          </p:cNvSpPr>
          <p:nvPr>
            <p:ph idx="1"/>
          </p:nvPr>
        </p:nvSpPr>
        <p:spPr>
          <a:xfrm>
            <a:off x="609600" y="1828800"/>
            <a:ext cx="11109960" cy="4224233"/>
          </a:xfrm>
        </p:spPr>
        <p:txBody>
          <a:bodyPr>
            <a:normAutofit/>
          </a:bodyPr>
          <a:lstStyle/>
          <a:p>
            <a:pPr algn="just"/>
            <a:r>
              <a:rPr lang="en-US" sz="2400" dirty="0">
                <a:solidFill>
                  <a:srgbClr val="FF0000"/>
                </a:solidFill>
                <a:latin typeface="Arial" pitchFamily="34" charset="0"/>
                <a:cs typeface="Arial" pitchFamily="34" charset="0"/>
              </a:rPr>
              <a:t>Normalization</a:t>
            </a:r>
            <a:r>
              <a:rPr lang="en-US" sz="2400" dirty="0">
                <a:latin typeface="Arial" pitchFamily="34" charset="0"/>
                <a:cs typeface="Arial" pitchFamily="34" charset="0"/>
              </a:rPr>
              <a:t> is a common technique used in machine learning to scale numeric features to a common range. This is important because it can help improve the performance of certain algorithms by ensuring that no single feature dominates the others</a:t>
            </a:r>
            <a:r>
              <a:rPr lang="en-US" sz="2400" dirty="0" smtClean="0">
                <a:latin typeface="Arial" pitchFamily="34" charset="0"/>
                <a:cs typeface="Arial" pitchFamily="34" charset="0"/>
              </a:rPr>
              <a:t>.</a:t>
            </a:r>
          </a:p>
          <a:p>
            <a:pPr algn="just"/>
            <a:r>
              <a:rPr lang="en-US" sz="2400" dirty="0" smtClean="0">
                <a:solidFill>
                  <a:srgbClr val="FF0000"/>
                </a:solidFill>
                <a:latin typeface="Arial" pitchFamily="34" charset="0"/>
                <a:cs typeface="Arial" pitchFamily="34" charset="0"/>
              </a:rPr>
              <a:t>StandardScaler</a:t>
            </a:r>
            <a:r>
              <a:rPr lang="en-US" sz="2400" dirty="0" smtClean="0">
                <a:latin typeface="Arial" pitchFamily="34" charset="0"/>
                <a:cs typeface="Arial" pitchFamily="34" charset="0"/>
              </a:rPr>
              <a:t> is a method of standardizing data such the </a:t>
            </a:r>
            <a:r>
              <a:rPr lang="en-US" sz="2400" dirty="0" err="1" smtClean="0">
                <a:latin typeface="Arial" pitchFamily="34" charset="0"/>
                <a:cs typeface="Arial" pitchFamily="34" charset="0"/>
              </a:rPr>
              <a:t>the</a:t>
            </a:r>
            <a:r>
              <a:rPr lang="en-US" sz="2400" dirty="0" smtClean="0">
                <a:latin typeface="Arial" pitchFamily="34" charset="0"/>
                <a:cs typeface="Arial" pitchFamily="34" charset="0"/>
              </a:rPr>
              <a:t> transformed feature has 0 mean and a standard deviation of 1. The transformed features tells us how many standard deviation the original feature is away from the feature’s mean value also called a z-score in statistics.</a:t>
            </a:r>
            <a:endParaRPr lang="en-US" sz="2400" dirty="0">
              <a:latin typeface="Arial" pitchFamily="34" charset="0"/>
              <a:cs typeface="Arial" pitchFamily="34" charset="0"/>
            </a:endParaRP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6" name="Pictur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9219" name="Picture 3"/>
          <p:cNvPicPr>
            <a:picLocks noChangeAspect="1" noChangeArrowheads="1"/>
          </p:cNvPicPr>
          <p:nvPr/>
        </p:nvPicPr>
        <p:blipFill>
          <a:blip r:embed="rId3"/>
          <a:srcRect l="20000" t="21111" r="32329" b="7778"/>
          <a:stretch>
            <a:fillRect/>
          </a:stretch>
        </p:blipFill>
        <p:spPr bwMode="auto">
          <a:xfrm>
            <a:off x="2743200" y="152400"/>
            <a:ext cx="6901841" cy="57912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42" name="Picture 2"/>
          <p:cNvPicPr>
            <a:picLocks noChangeAspect="1" noChangeArrowheads="1"/>
          </p:cNvPicPr>
          <p:nvPr/>
        </p:nvPicPr>
        <p:blipFill>
          <a:blip r:embed="rId3"/>
          <a:srcRect l="18750" t="24444" r="23750" b="21111"/>
          <a:stretch>
            <a:fillRect/>
          </a:stretch>
        </p:blipFill>
        <p:spPr bwMode="auto">
          <a:xfrm>
            <a:off x="1447800" y="304800"/>
            <a:ext cx="8870302" cy="54102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1266" name="Picture 2"/>
          <p:cNvPicPr>
            <a:picLocks noChangeAspect="1" noChangeArrowheads="1"/>
          </p:cNvPicPr>
          <p:nvPr/>
        </p:nvPicPr>
        <p:blipFill>
          <a:blip r:embed="rId3"/>
          <a:srcRect l="28125" t="17778" r="30000" b="6667"/>
          <a:stretch>
            <a:fillRect/>
          </a:stretch>
        </p:blipFill>
        <p:spPr bwMode="auto">
          <a:xfrm>
            <a:off x="2971800" y="304800"/>
            <a:ext cx="6019800" cy="556828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2291" name="Picture 3"/>
          <p:cNvPicPr>
            <a:picLocks noChangeAspect="1" noChangeArrowheads="1"/>
          </p:cNvPicPr>
          <p:nvPr/>
        </p:nvPicPr>
        <p:blipFill>
          <a:blip r:embed="rId3"/>
          <a:srcRect l="21875" t="38889" r="30625" b="11111"/>
          <a:stretch>
            <a:fillRect/>
          </a:stretch>
        </p:blipFill>
        <p:spPr bwMode="auto">
          <a:xfrm>
            <a:off x="1752600" y="381000"/>
            <a:ext cx="8365067" cy="49530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3314" name="Picture 2"/>
          <p:cNvPicPr>
            <a:picLocks noChangeAspect="1" noChangeArrowheads="1"/>
          </p:cNvPicPr>
          <p:nvPr/>
        </p:nvPicPr>
        <p:blipFill>
          <a:blip r:embed="rId3"/>
          <a:srcRect l="27500" t="17778" r="36875" b="6667"/>
          <a:stretch>
            <a:fillRect/>
          </a:stretch>
        </p:blipFill>
        <p:spPr bwMode="auto">
          <a:xfrm>
            <a:off x="3200400" y="34758"/>
            <a:ext cx="4953000" cy="5908842"/>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4339" name="Picture 3"/>
          <p:cNvPicPr>
            <a:picLocks noChangeAspect="1" noChangeArrowheads="1"/>
          </p:cNvPicPr>
          <p:nvPr/>
        </p:nvPicPr>
        <p:blipFill>
          <a:blip r:embed="rId3"/>
          <a:srcRect l="29375" t="50000" r="33750" b="14444"/>
          <a:stretch>
            <a:fillRect/>
          </a:stretch>
        </p:blipFill>
        <p:spPr bwMode="auto">
          <a:xfrm>
            <a:off x="2647950" y="914400"/>
            <a:ext cx="7867650" cy="46482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5362" name="Picture 2"/>
          <p:cNvPicPr>
            <a:picLocks noChangeAspect="1" noChangeArrowheads="1"/>
          </p:cNvPicPr>
          <p:nvPr/>
        </p:nvPicPr>
        <p:blipFill>
          <a:blip r:embed="rId3"/>
          <a:srcRect l="28750" t="18889" r="28750" b="11294"/>
          <a:stretch>
            <a:fillRect/>
          </a:stretch>
        </p:blipFill>
        <p:spPr bwMode="auto">
          <a:xfrm>
            <a:off x="3048000" y="152400"/>
            <a:ext cx="6184727" cy="5715001"/>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6387" name="Picture 3"/>
          <p:cNvPicPr>
            <a:picLocks noChangeAspect="1" noChangeArrowheads="1"/>
          </p:cNvPicPr>
          <p:nvPr/>
        </p:nvPicPr>
        <p:blipFill>
          <a:blip r:embed="rId3"/>
          <a:srcRect l="28750" t="20785" r="35000" b="21111"/>
          <a:stretch>
            <a:fillRect/>
          </a:stretch>
        </p:blipFill>
        <p:spPr bwMode="auto">
          <a:xfrm>
            <a:off x="2914291" y="228600"/>
            <a:ext cx="5837207" cy="56388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11109960" cy="1066800"/>
          </a:xfrm>
        </p:spPr>
        <p:txBody>
          <a:bodyPr/>
          <a:lstStyle/>
          <a:p>
            <a:r>
              <a:rPr lang="en-US" dirty="0" smtClean="0"/>
              <a:t>Statistical Graphical using </a:t>
            </a:r>
            <a:r>
              <a:rPr lang="en-US" dirty="0" smtClean="0">
                <a:solidFill>
                  <a:srgbClr val="FF0000"/>
                </a:solidFill>
              </a:rPr>
              <a:t>Seaborn</a:t>
            </a:r>
            <a:endParaRPr lang="en-US" dirty="0">
              <a:solidFill>
                <a:srgbClr val="FF0000"/>
              </a:solidFill>
            </a:endParaRPr>
          </a:p>
        </p:txBody>
      </p:sp>
      <p:sp>
        <p:nvSpPr>
          <p:cNvPr id="3" name="Content Placeholder 2"/>
          <p:cNvSpPr>
            <a:spLocks noGrp="1"/>
          </p:cNvSpPr>
          <p:nvPr>
            <p:ph idx="1"/>
          </p:nvPr>
        </p:nvSpPr>
        <p:spPr>
          <a:xfrm>
            <a:off x="609600" y="1143000"/>
            <a:ext cx="11109960" cy="4224233"/>
          </a:xfrm>
        </p:spPr>
        <p:txBody>
          <a:bodyPr>
            <a:normAutofit/>
          </a:bodyPr>
          <a:lstStyle/>
          <a:p>
            <a:pPr algn="just"/>
            <a:r>
              <a:rPr lang="en-US" sz="2400" dirty="0" smtClean="0">
                <a:solidFill>
                  <a:srgbClr val="FF0000"/>
                </a:solidFill>
                <a:latin typeface="Arial" pitchFamily="34" charset="0"/>
                <a:cs typeface="Arial" pitchFamily="34" charset="0"/>
              </a:rPr>
              <a:t>Seaborn</a:t>
            </a:r>
            <a:r>
              <a:rPr lang="en-US" sz="2400" dirty="0" smtClean="0">
                <a:latin typeface="Arial" pitchFamily="34" charset="0"/>
                <a:cs typeface="Arial" pitchFamily="34" charset="0"/>
              </a:rPr>
              <a:t> is a Python data visualization library based on Matplotlib. It provides a high-level interface for creating informative and attractive statistical graphics. Seaborn includes a number of built-in themes and color palettes to help you create visually appealing plots with minimal effort.</a:t>
            </a:r>
          </a:p>
          <a:p>
            <a:r>
              <a:rPr lang="en-US" sz="2400" dirty="0" smtClean="0">
                <a:latin typeface="Arial" pitchFamily="34" charset="0"/>
                <a:cs typeface="Arial" pitchFamily="34" charset="0"/>
              </a:rPr>
              <a:t>Histograms</a:t>
            </a:r>
          </a:p>
          <a:p>
            <a:r>
              <a:rPr lang="en-US" sz="2400" dirty="0" smtClean="0">
                <a:latin typeface="Arial" pitchFamily="34" charset="0"/>
                <a:cs typeface="Arial" pitchFamily="34" charset="0"/>
              </a:rPr>
              <a:t>Violin plots</a:t>
            </a:r>
          </a:p>
          <a:p>
            <a:r>
              <a:rPr lang="en-US" sz="2400" dirty="0" smtClean="0">
                <a:latin typeface="Arial" pitchFamily="34" charset="0"/>
                <a:cs typeface="Arial" pitchFamily="34" charset="0"/>
              </a:rPr>
              <a:t>Box plots</a:t>
            </a:r>
          </a:p>
          <a:p>
            <a:r>
              <a:rPr lang="en-US" sz="2400" dirty="0" smtClean="0">
                <a:latin typeface="Arial" pitchFamily="34" charset="0"/>
                <a:cs typeface="Arial" pitchFamily="34" charset="0"/>
              </a:rPr>
              <a:t>Heatmaps</a:t>
            </a:r>
            <a:r>
              <a:rPr lang="en-US" dirty="0" smtClean="0"/>
              <a:t/>
            </a:r>
            <a:br>
              <a:rPr lang="en-US" dirty="0" smtClean="0"/>
            </a:br>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6" name="Picture 2"/>
          <p:cNvPicPr>
            <a:picLocks noChangeAspect="1" noChangeArrowheads="1"/>
          </p:cNvPicPr>
          <p:nvPr/>
        </p:nvPicPr>
        <p:blipFill>
          <a:blip r:embed="rId3"/>
          <a:srcRect l="16250" t="23160" r="43125" b="6667"/>
          <a:stretch>
            <a:fillRect/>
          </a:stretch>
        </p:blipFill>
        <p:spPr bwMode="auto">
          <a:xfrm>
            <a:off x="2819400" y="228600"/>
            <a:ext cx="6553200" cy="5700932"/>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2050" name="Picture 2"/>
          <p:cNvPicPr>
            <a:picLocks noChangeAspect="1" noChangeArrowheads="1"/>
          </p:cNvPicPr>
          <p:nvPr/>
        </p:nvPicPr>
        <p:blipFill>
          <a:blip r:embed="rId3"/>
          <a:srcRect l="15625" t="23334" r="23750" b="7778"/>
          <a:stretch>
            <a:fillRect/>
          </a:stretch>
        </p:blipFill>
        <p:spPr bwMode="auto">
          <a:xfrm>
            <a:off x="2209799" y="228600"/>
            <a:ext cx="8583561" cy="54864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3074" name="Picture 2"/>
          <p:cNvPicPr>
            <a:picLocks noChangeAspect="1" noChangeArrowheads="1"/>
          </p:cNvPicPr>
          <p:nvPr/>
        </p:nvPicPr>
        <p:blipFill>
          <a:blip r:embed="rId3"/>
          <a:srcRect l="15625" t="23132" r="30625" b="8889"/>
          <a:stretch>
            <a:fillRect/>
          </a:stretch>
        </p:blipFill>
        <p:spPr bwMode="auto">
          <a:xfrm>
            <a:off x="2743200" y="152400"/>
            <a:ext cx="8001001" cy="5691963"/>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l="16875" t="22222" r="33750" b="6667"/>
          <a:stretch>
            <a:fillRect/>
          </a:stretch>
        </p:blipFill>
        <p:spPr bwMode="auto">
          <a:xfrm>
            <a:off x="2971801" y="119605"/>
            <a:ext cx="7094934" cy="5747795"/>
          </a:xfrm>
          <a:prstGeom prst="rect">
            <a:avLst/>
          </a:prstGeom>
          <a:noFill/>
          <a:ln w="9525">
            <a:noFill/>
            <a:miter lim="800000"/>
            <a:headEnd/>
            <a:tailEnd/>
          </a:ln>
          <a:effectLst/>
        </p:spPr>
      </p:pic>
      <p:sp>
        <p:nvSpPr>
          <p:cNvPr id="5" name="TextBox 4"/>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Sentiment analysis &amp; Topic Classification and Relationship Extraction using NLP</a:t>
            </a:r>
            <a:endParaRPr lang="en-US" dirty="0"/>
          </a:p>
        </p:txBody>
      </p:sp>
      <p:sp>
        <p:nvSpPr>
          <p:cNvPr id="3" name="Content Placeholder 2"/>
          <p:cNvSpPr>
            <a:spLocks noGrp="1"/>
          </p:cNvSpPr>
          <p:nvPr>
            <p:ph idx="1"/>
          </p:nvPr>
        </p:nvSpPr>
        <p:spPr/>
        <p:txBody>
          <a:bodyPr>
            <a:normAutofit/>
          </a:bodyPr>
          <a:lstStyle/>
          <a:p>
            <a:pPr algn="just">
              <a:buNone/>
            </a:pPr>
            <a:r>
              <a:rPr lang="en-US" sz="2400" b="1" dirty="0" smtClean="0"/>
              <a:t>What is NPL</a:t>
            </a:r>
          </a:p>
          <a:p>
            <a:pPr algn="just"/>
            <a:r>
              <a:rPr lang="en-US" sz="2400" dirty="0" smtClean="0">
                <a:solidFill>
                  <a:srgbClr val="FF0000"/>
                </a:solidFill>
              </a:rPr>
              <a:t>Natural language processing (NLP) </a:t>
            </a:r>
            <a:r>
              <a:rPr lang="en-US" sz="2400" dirty="0" smtClean="0"/>
              <a:t>refers to the branch of computer science—and more specifically, the branch of </a:t>
            </a:r>
            <a:r>
              <a:rPr lang="en-US" sz="2400" dirty="0" smtClean="0">
                <a:hlinkClick r:id="rId2" tooltip="what-is-artificial-intelligence"/>
              </a:rPr>
              <a:t>artificial intelligence or AI</a:t>
            </a:r>
            <a:r>
              <a:rPr lang="en-US" sz="2400" dirty="0" smtClean="0"/>
              <a:t>—concerned with giving computers the ability to understand text and spoken words in much the same way human beings can.</a:t>
            </a:r>
          </a:p>
          <a:p>
            <a:pPr algn="just">
              <a:buNone/>
            </a:pPr>
            <a:r>
              <a:rPr lang="en-US" sz="2400" b="1" dirty="0" smtClean="0"/>
              <a:t>What is Sentiment analysis</a:t>
            </a:r>
          </a:p>
          <a:p>
            <a:pPr algn="just"/>
            <a:r>
              <a:rPr lang="en-US" sz="2400" dirty="0" smtClean="0">
                <a:solidFill>
                  <a:srgbClr val="FF0000"/>
                </a:solidFill>
              </a:rPr>
              <a:t>Sentiment analysis </a:t>
            </a:r>
            <a:r>
              <a:rPr lang="en-US" sz="2400" dirty="0" smtClean="0"/>
              <a:t>is the process of using natural language processing and machine learning techniques to identify and extract subjective information from text data, such as opinions, attitudes, and emotions. </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11109960" cy="4224233"/>
          </a:xfrm>
        </p:spPr>
        <p:txBody>
          <a:bodyPr>
            <a:normAutofit/>
          </a:bodyPr>
          <a:lstStyle/>
          <a:p>
            <a:pPr algn="just">
              <a:buNone/>
            </a:pPr>
            <a:r>
              <a:rPr lang="en-US" b="1" dirty="0" smtClean="0"/>
              <a:t>What is Relationship Extraction</a:t>
            </a:r>
          </a:p>
          <a:p>
            <a:pPr algn="just"/>
            <a:r>
              <a:rPr lang="en-US" sz="2400" b="1" dirty="0" smtClean="0">
                <a:solidFill>
                  <a:srgbClr val="FF0000"/>
                </a:solidFill>
                <a:latin typeface="Arial" pitchFamily="34" charset="0"/>
                <a:cs typeface="Arial" pitchFamily="34" charset="0"/>
              </a:rPr>
              <a:t>Relation Extraction</a:t>
            </a:r>
            <a:r>
              <a:rPr lang="en-US" sz="2400" dirty="0" smtClean="0">
                <a:solidFill>
                  <a:srgbClr val="FF0000"/>
                </a:solidFill>
                <a:latin typeface="Arial" pitchFamily="34" charset="0"/>
                <a:cs typeface="Arial" pitchFamily="34" charset="0"/>
              </a:rPr>
              <a:t> </a:t>
            </a:r>
            <a:r>
              <a:rPr lang="en-US" sz="2400" dirty="0" smtClean="0">
                <a:latin typeface="Arial" pitchFamily="34" charset="0"/>
                <a:cs typeface="Arial" pitchFamily="34" charset="0"/>
              </a:rPr>
              <a:t>is the task of predicting attributes and relations for entities in a sentence. For example, given a sentence “Barack Obama was born in Honolulu, Hawaii.”, a relation classifier aims at predicting the relation of “bornInCity”. Relation Extraction is the key component for building relation knowledge graphs, and it is of crucial significance to natural language processing applications such as structured search, sentiment analysis, question answering, and summarization</a:t>
            </a:r>
            <a:r>
              <a:rPr lang="en-US" sz="2400" dirty="0" smtClean="0"/>
              <a:t>.</a:t>
            </a:r>
            <a:endParaRPr lang="en-US" sz="2400"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170" name="Picture 2"/>
          <p:cNvPicPr>
            <a:picLocks noChangeAspect="1" noChangeArrowheads="1"/>
          </p:cNvPicPr>
          <p:nvPr/>
        </p:nvPicPr>
        <p:blipFill>
          <a:blip r:embed="rId3"/>
          <a:srcRect t="11111" r="6250" b="6667"/>
          <a:stretch>
            <a:fillRect/>
          </a:stretch>
        </p:blipFill>
        <p:spPr bwMode="auto">
          <a:xfrm>
            <a:off x="1981200" y="609600"/>
            <a:ext cx="8763000" cy="4962144"/>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8194" name="Picture 2"/>
          <p:cNvPicPr>
            <a:picLocks noChangeAspect="1" noChangeArrowheads="1"/>
          </p:cNvPicPr>
          <p:nvPr/>
        </p:nvPicPr>
        <p:blipFill>
          <a:blip r:embed="rId3"/>
          <a:srcRect l="3750" t="10000" r="1250" b="6667"/>
          <a:stretch>
            <a:fillRect/>
          </a:stretch>
        </p:blipFill>
        <p:spPr bwMode="auto">
          <a:xfrm>
            <a:off x="2514600" y="457200"/>
            <a:ext cx="8153400" cy="5156033"/>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9218" name="Picture 2"/>
          <p:cNvPicPr>
            <a:picLocks noChangeAspect="1" noChangeArrowheads="1"/>
          </p:cNvPicPr>
          <p:nvPr/>
        </p:nvPicPr>
        <p:blipFill>
          <a:blip r:embed="rId3"/>
          <a:srcRect t="11111" r="44375" b="6667"/>
          <a:stretch>
            <a:fillRect/>
          </a:stretch>
        </p:blipFill>
        <p:spPr bwMode="auto">
          <a:xfrm>
            <a:off x="2743200" y="152400"/>
            <a:ext cx="7391400" cy="5757512"/>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42" name="Picture 2"/>
          <p:cNvPicPr>
            <a:picLocks noChangeAspect="1" noChangeArrowheads="1"/>
          </p:cNvPicPr>
          <p:nvPr/>
        </p:nvPicPr>
        <p:blipFill>
          <a:blip r:embed="rId3"/>
          <a:srcRect l="1250" t="10000" r="40000" b="11111"/>
          <a:stretch>
            <a:fillRect/>
          </a:stretch>
        </p:blipFill>
        <p:spPr bwMode="auto">
          <a:xfrm>
            <a:off x="2667000" y="152400"/>
            <a:ext cx="7465454" cy="56388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1267" name="Picture 3"/>
          <p:cNvPicPr>
            <a:picLocks noChangeAspect="1" noChangeArrowheads="1"/>
          </p:cNvPicPr>
          <p:nvPr/>
        </p:nvPicPr>
        <p:blipFill>
          <a:blip r:embed="rId3"/>
          <a:srcRect l="15625" t="42222" r="35625" b="23333"/>
          <a:stretch>
            <a:fillRect/>
          </a:stretch>
        </p:blipFill>
        <p:spPr bwMode="auto">
          <a:xfrm>
            <a:off x="2057400" y="838200"/>
            <a:ext cx="8362188" cy="4495800"/>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 Extraction using LDA &amp; TF-IDF</a:t>
            </a:r>
            <a:endParaRPr lang="en-US" dirty="0"/>
          </a:p>
        </p:txBody>
      </p:sp>
      <p:sp>
        <p:nvSpPr>
          <p:cNvPr id="3" name="Content Placeholder 2"/>
          <p:cNvSpPr>
            <a:spLocks noGrp="1"/>
          </p:cNvSpPr>
          <p:nvPr>
            <p:ph idx="1"/>
          </p:nvPr>
        </p:nvSpPr>
        <p:spPr/>
        <p:txBody>
          <a:bodyPr>
            <a:normAutofit lnSpcReduction="10000"/>
          </a:bodyPr>
          <a:lstStyle/>
          <a:p>
            <a:pPr algn="just"/>
            <a:r>
              <a:rPr lang="en-US" sz="2400" dirty="0" smtClean="0">
                <a:solidFill>
                  <a:srgbClr val="FF0000"/>
                </a:solidFill>
                <a:latin typeface="Arial" pitchFamily="34" charset="0"/>
                <a:cs typeface="Arial" pitchFamily="34" charset="0"/>
              </a:rPr>
              <a:t>Feature extraction </a:t>
            </a:r>
            <a:r>
              <a:rPr lang="en-US" sz="2400" dirty="0" smtClean="0">
                <a:latin typeface="Arial" pitchFamily="34" charset="0"/>
                <a:cs typeface="Arial" pitchFamily="34" charset="0"/>
              </a:rPr>
              <a:t>is the process of transforming unstructured data, such as text, into a set of meaningful features that can be used for further analysis or modeling. Two popular methods for feature extraction in natural language processing are Latent Dirichlet Allocation (LDA) and Term Frequency-Inverse Document Frequency (TF-IDF).</a:t>
            </a:r>
          </a:p>
          <a:p>
            <a:pPr algn="just">
              <a:buNone/>
            </a:pPr>
            <a:r>
              <a:rPr lang="en-US" sz="2400" b="1" dirty="0" smtClean="0">
                <a:latin typeface="Arial" pitchFamily="34" charset="0"/>
                <a:cs typeface="Arial" pitchFamily="34" charset="0"/>
              </a:rPr>
              <a:t>What is LDA</a:t>
            </a:r>
          </a:p>
          <a:p>
            <a:pPr algn="just"/>
            <a:r>
              <a:rPr lang="en-US" sz="2400" dirty="0" smtClean="0">
                <a:latin typeface="Arial" pitchFamily="34" charset="0"/>
                <a:cs typeface="Arial" pitchFamily="34" charset="0"/>
              </a:rPr>
              <a:t>The main idea behind LDA is that documents are represented as a mixture of topics, and each topic is represented as a distribution over words. The goal is to discover these underlying topics and their word distributions by looking at the words that appear in the documents. This can help in identifying the main themes or topics that are present in the documents.</a:t>
            </a: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33400"/>
            <a:ext cx="11109960" cy="4224233"/>
          </a:xfrm>
        </p:spPr>
        <p:txBody>
          <a:bodyPr>
            <a:normAutofit/>
          </a:bodyPr>
          <a:lstStyle/>
          <a:p>
            <a:pPr algn="just">
              <a:buNone/>
            </a:pPr>
            <a:r>
              <a:rPr lang="en-US" b="1" dirty="0" smtClean="0"/>
              <a:t>What is TF-IDF</a:t>
            </a:r>
          </a:p>
          <a:p>
            <a:pPr algn="just"/>
            <a:r>
              <a:rPr lang="en-US" sz="2400" dirty="0" smtClean="0">
                <a:latin typeface="Arial" pitchFamily="34" charset="0"/>
                <a:cs typeface="Arial" pitchFamily="34" charset="0"/>
              </a:rPr>
              <a:t>TF(t, d) is the term frequency of term t in document d, which is the number of times t occurs in d divided by the total number of words in d.</a:t>
            </a:r>
          </a:p>
          <a:p>
            <a:pPr algn="just"/>
            <a:r>
              <a:rPr lang="en-US" sz="2400" dirty="0" smtClean="0">
                <a:latin typeface="Arial" pitchFamily="34" charset="0"/>
                <a:cs typeface="Arial" pitchFamily="34" charset="0"/>
              </a:rPr>
              <a:t>IDF(t) is the inverse document frequency of term t, which is calculated as the logarithm of the total number of documents in the collection divided by the number of documents that contain t. The IDF score is used to </a:t>
            </a:r>
            <a:r>
              <a:rPr lang="en-US" sz="2400" dirty="0" err="1" smtClean="0">
                <a:latin typeface="Arial" pitchFamily="34" charset="0"/>
                <a:cs typeface="Arial" pitchFamily="34" charset="0"/>
              </a:rPr>
              <a:t>downweight</a:t>
            </a:r>
            <a:r>
              <a:rPr lang="en-US" sz="2400" dirty="0" smtClean="0">
                <a:latin typeface="Arial" pitchFamily="34" charset="0"/>
                <a:cs typeface="Arial" pitchFamily="34" charset="0"/>
              </a:rPr>
              <a:t> the importance of terms that occur in many documents and </a:t>
            </a:r>
            <a:r>
              <a:rPr lang="en-US" sz="2400" dirty="0" err="1" smtClean="0">
                <a:latin typeface="Arial" pitchFamily="34" charset="0"/>
                <a:cs typeface="Arial" pitchFamily="34" charset="0"/>
              </a:rPr>
              <a:t>upweight</a:t>
            </a:r>
            <a:r>
              <a:rPr lang="en-US" sz="2400" dirty="0" smtClean="0">
                <a:latin typeface="Arial" pitchFamily="34" charset="0"/>
                <a:cs typeface="Arial" pitchFamily="34" charset="0"/>
              </a:rPr>
              <a:t> the importance of terms that occur in few documents.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2290" name="Picture 2"/>
          <p:cNvPicPr>
            <a:picLocks noChangeAspect="1" noChangeArrowheads="1"/>
          </p:cNvPicPr>
          <p:nvPr/>
        </p:nvPicPr>
        <p:blipFill>
          <a:blip r:embed="rId3"/>
          <a:srcRect l="16875" t="23333" r="15000" b="6667"/>
          <a:stretch>
            <a:fillRect/>
          </a:stretch>
        </p:blipFill>
        <p:spPr bwMode="auto">
          <a:xfrm>
            <a:off x="1905000" y="304800"/>
            <a:ext cx="9360505" cy="54102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3315" name="Picture 3"/>
          <p:cNvPicPr>
            <a:picLocks noChangeAspect="1" noChangeArrowheads="1"/>
          </p:cNvPicPr>
          <p:nvPr/>
        </p:nvPicPr>
        <p:blipFill>
          <a:blip r:embed="rId3"/>
          <a:srcRect l="22500" t="22222" r="21875" b="12222"/>
          <a:stretch>
            <a:fillRect/>
          </a:stretch>
        </p:blipFill>
        <p:spPr bwMode="auto">
          <a:xfrm>
            <a:off x="2286000" y="533400"/>
            <a:ext cx="7931258" cy="525780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Statistical Modelling using </a:t>
            </a:r>
            <a:r>
              <a:rPr lang="en-US" dirty="0" smtClean="0">
                <a:solidFill>
                  <a:srgbClr val="FF0000"/>
                </a:solidFill>
              </a:rPr>
              <a:t>SkLearn</a:t>
            </a:r>
            <a:endParaRPr lang="en-US"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solidFill>
                  <a:srgbClr val="FF0000"/>
                </a:solidFill>
                <a:latin typeface="Arial" pitchFamily="34" charset="0"/>
                <a:cs typeface="Arial" pitchFamily="34" charset="0"/>
              </a:rPr>
              <a:t>Scikit-</a:t>
            </a:r>
            <a:r>
              <a:rPr lang="en-US" sz="2400" b="1" dirty="0" smtClean="0">
                <a:solidFill>
                  <a:srgbClr val="FF0000"/>
                </a:solidFill>
                <a:latin typeface="Arial" pitchFamily="34" charset="0"/>
                <a:cs typeface="Arial" pitchFamily="34" charset="0"/>
              </a:rPr>
              <a:t>learn</a:t>
            </a:r>
            <a:r>
              <a:rPr lang="en-US" sz="2400" dirty="0" smtClean="0">
                <a:latin typeface="Arial" pitchFamily="34" charset="0"/>
                <a:cs typeface="Arial" pitchFamily="34" charset="0"/>
              </a:rPr>
              <a:t> (formerly scikits.learn and also known as sklearn) is a free software machine learning library for the Python programming language. It features various classification, regression and clustering algorithms including support vector machines, random forests, gradient boosting, k-means and DBSCAN, and is designed to interoperate with the Python numerical and scientific libraries NumPy and SciPy</a:t>
            </a:r>
            <a:endParaRPr lang="en-US" sz="2400" dirty="0">
              <a:latin typeface="Arial" pitchFamily="34" charset="0"/>
              <a:cs typeface="Arial" pitchFamily="34" charset="0"/>
            </a:endParaRP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11109960" cy="1066800"/>
          </a:xfrm>
        </p:spPr>
        <p:txBody>
          <a:bodyPr>
            <a:normAutofit/>
          </a:bodyPr>
          <a:lstStyle/>
          <a:p>
            <a:r>
              <a:rPr lang="en-US" dirty="0" smtClean="0"/>
              <a:t>RFM Analysis</a:t>
            </a:r>
            <a:endParaRPr lang="en-US" dirty="0"/>
          </a:p>
        </p:txBody>
      </p:sp>
      <p:sp>
        <p:nvSpPr>
          <p:cNvPr id="3" name="Content Placeholder 2"/>
          <p:cNvSpPr>
            <a:spLocks noGrp="1"/>
          </p:cNvSpPr>
          <p:nvPr>
            <p:ph idx="1"/>
          </p:nvPr>
        </p:nvSpPr>
        <p:spPr>
          <a:xfrm>
            <a:off x="685800" y="1066800"/>
            <a:ext cx="11109960" cy="4224233"/>
          </a:xfrm>
        </p:spPr>
        <p:txBody>
          <a:bodyPr>
            <a:noAutofit/>
          </a:bodyPr>
          <a:lstStyle/>
          <a:p>
            <a:pPr algn="just" fontAlgn="base">
              <a:buNone/>
            </a:pPr>
            <a:r>
              <a:rPr lang="en-US" sz="2400" b="1" dirty="0" smtClean="0">
                <a:latin typeface="Arial" pitchFamily="34" charset="0"/>
                <a:cs typeface="Arial" pitchFamily="34" charset="0"/>
              </a:rPr>
              <a:t>What is RFM analysis?</a:t>
            </a:r>
          </a:p>
          <a:p>
            <a:pPr algn="just" fontAlgn="base"/>
            <a:r>
              <a:rPr lang="en-US" sz="2400" dirty="0" smtClean="0">
                <a:solidFill>
                  <a:srgbClr val="FF0000"/>
                </a:solidFill>
                <a:latin typeface="Arial" pitchFamily="34" charset="0"/>
                <a:cs typeface="Arial" pitchFamily="34" charset="0"/>
              </a:rPr>
              <a:t>RFM</a:t>
            </a:r>
            <a:r>
              <a:rPr lang="en-US" sz="2400" dirty="0" smtClean="0">
                <a:latin typeface="Arial" pitchFamily="34" charset="0"/>
                <a:cs typeface="Arial" pitchFamily="34" charset="0"/>
              </a:rPr>
              <a:t> stands for recency, frequency, monetary value. In business analytics, we often use this concept to divide customers into different segments, like high-value customers, medium value customers or low-value customers, and similarly many others.</a:t>
            </a:r>
          </a:p>
          <a:p>
            <a:pPr algn="just" fontAlgn="base"/>
            <a:r>
              <a:rPr lang="en-US" sz="2400" b="1" dirty="0" smtClean="0">
                <a:solidFill>
                  <a:srgbClr val="FF0000"/>
                </a:solidFill>
                <a:latin typeface="Arial" pitchFamily="34" charset="0"/>
                <a:cs typeface="Arial" pitchFamily="34" charset="0"/>
              </a:rPr>
              <a:t>Recency</a:t>
            </a:r>
            <a:r>
              <a:rPr lang="en-US" sz="2400" dirty="0" smtClean="0">
                <a:latin typeface="Arial" pitchFamily="34" charset="0"/>
                <a:cs typeface="Arial" pitchFamily="34" charset="0"/>
              </a:rPr>
              <a:t>: How recently has the customer made a transaction with us</a:t>
            </a:r>
          </a:p>
          <a:p>
            <a:pPr algn="just" fontAlgn="base"/>
            <a:r>
              <a:rPr lang="en-US" sz="2400" b="1" dirty="0" smtClean="0">
                <a:solidFill>
                  <a:srgbClr val="FF0000"/>
                </a:solidFill>
                <a:latin typeface="Arial" pitchFamily="34" charset="0"/>
                <a:cs typeface="Arial" pitchFamily="34" charset="0"/>
              </a:rPr>
              <a:t>Frequency</a:t>
            </a:r>
            <a:r>
              <a:rPr lang="en-US" sz="2400" dirty="0" smtClean="0">
                <a:latin typeface="Arial" pitchFamily="34" charset="0"/>
                <a:cs typeface="Arial" pitchFamily="34" charset="0"/>
              </a:rPr>
              <a:t>: How frequent is the customer in ordering/buying some product from us</a:t>
            </a:r>
          </a:p>
          <a:p>
            <a:pPr algn="just" fontAlgn="base"/>
            <a:r>
              <a:rPr lang="en-US" sz="2400" b="1" dirty="0" smtClean="0">
                <a:solidFill>
                  <a:srgbClr val="FF0000"/>
                </a:solidFill>
                <a:latin typeface="Arial" pitchFamily="34" charset="0"/>
                <a:cs typeface="Arial" pitchFamily="34" charset="0"/>
              </a:rPr>
              <a:t>Monetary</a:t>
            </a:r>
            <a:r>
              <a:rPr lang="en-US" sz="2400" dirty="0" smtClean="0">
                <a:latin typeface="Arial" pitchFamily="34" charset="0"/>
                <a:cs typeface="Arial" pitchFamily="34" charset="0"/>
              </a:rPr>
              <a:t>: How much does the customer spend on purchasing products from us.</a:t>
            </a: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6" name="Picture 2"/>
          <p:cNvPicPr>
            <a:picLocks noChangeAspect="1" noChangeArrowheads="1"/>
          </p:cNvPicPr>
          <p:nvPr/>
        </p:nvPicPr>
        <p:blipFill>
          <a:blip r:embed="rId3"/>
          <a:srcRect l="28125" t="17778" r="29375" b="6667"/>
          <a:stretch>
            <a:fillRect/>
          </a:stretch>
        </p:blipFill>
        <p:spPr bwMode="auto">
          <a:xfrm>
            <a:off x="2819400" y="152400"/>
            <a:ext cx="6705600" cy="5791200"/>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2050" name="Picture 2"/>
          <p:cNvPicPr>
            <a:picLocks noChangeAspect="1" noChangeArrowheads="1"/>
          </p:cNvPicPr>
          <p:nvPr/>
        </p:nvPicPr>
        <p:blipFill>
          <a:blip r:embed="rId3"/>
          <a:srcRect l="30000" t="38288" r="43305" b="31111"/>
          <a:stretch>
            <a:fillRect/>
          </a:stretch>
        </p:blipFill>
        <p:spPr bwMode="auto">
          <a:xfrm>
            <a:off x="2514600" y="457200"/>
            <a:ext cx="7090475" cy="457200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using </a:t>
            </a:r>
            <a:r>
              <a:rPr lang="en-US" dirty="0" smtClean="0">
                <a:solidFill>
                  <a:srgbClr val="FF0000"/>
                </a:solidFill>
              </a:rPr>
              <a:t>Linear Regression</a:t>
            </a:r>
            <a:endParaRPr lang="en-US"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solidFill>
                  <a:srgbClr val="FF0000"/>
                </a:solidFill>
              </a:rPr>
              <a:t>Linear regression </a:t>
            </a:r>
            <a:r>
              <a:rPr lang="en-US" sz="2400" dirty="0" smtClean="0"/>
              <a:t>is a statistical method used to model the relationship between a dependent variable (also known as the response or target variable) and one or more independent variables (also known as predictors or features). The goal of linear regression is to find a linear equation that best describes the relationship between the variables, in terms of how the independent variables influence the dependent variable.</a:t>
            </a:r>
          </a:p>
          <a:p>
            <a:pPr algn="just"/>
            <a:r>
              <a:rPr lang="en-US" sz="2400" b="1" dirty="0" smtClean="0"/>
              <a:t>Y= m*x + c</a:t>
            </a:r>
          </a:p>
          <a:p>
            <a:pPr algn="just"/>
            <a:r>
              <a:rPr lang="en-US" sz="2400" b="1" dirty="0" smtClean="0"/>
              <a:t>β1 = Σ((Xi - X_mean)*(Yi - Y_mean)) / Σ((Xi - X_mean)^2)</a:t>
            </a:r>
          </a:p>
          <a:p>
            <a:pPr algn="just"/>
            <a:r>
              <a:rPr lang="en-US" sz="2400" b="1" dirty="0" smtClean="0"/>
              <a:t>β0 = Y_mean - β1*X_mean</a:t>
            </a:r>
          </a:p>
          <a:p>
            <a:endParaRPr lang="en-US" sz="2400" b="1"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146" name="Picture 2" descr="Image result for linear regression"/>
          <p:cNvPicPr>
            <a:picLocks noGrp="1" noChangeAspect="1" noChangeArrowheads="1"/>
          </p:cNvPicPr>
          <p:nvPr>
            <p:ph idx="1"/>
          </p:nvPr>
        </p:nvPicPr>
        <p:blipFill>
          <a:blip r:embed="rId3"/>
          <a:srcRect/>
          <a:stretch>
            <a:fillRect/>
          </a:stretch>
        </p:blipFill>
        <p:spPr bwMode="auto">
          <a:xfrm>
            <a:off x="2057400" y="533400"/>
            <a:ext cx="7627815" cy="464820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5121" name="Picture 1"/>
          <p:cNvPicPr>
            <a:picLocks noChangeAspect="1" noChangeArrowheads="1"/>
          </p:cNvPicPr>
          <p:nvPr/>
        </p:nvPicPr>
        <p:blipFill>
          <a:blip r:embed="rId3"/>
          <a:srcRect l="16250" t="43333" r="36875" b="22222"/>
          <a:stretch>
            <a:fillRect/>
          </a:stretch>
        </p:blipFill>
        <p:spPr bwMode="auto">
          <a:xfrm>
            <a:off x="2743200" y="685800"/>
            <a:ext cx="7162800" cy="449580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smtClean="0">
                <a:solidFill>
                  <a:srgbClr val="FF0000"/>
                </a:solidFill>
              </a:rPr>
              <a:t>LASSO</a:t>
            </a:r>
            <a:endParaRPr lang="en-US"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solidFill>
                  <a:srgbClr val="FF0000"/>
                </a:solidFill>
              </a:rPr>
              <a:t>LASSO</a:t>
            </a:r>
            <a:r>
              <a:rPr lang="en-US" sz="2400" dirty="0" smtClean="0"/>
              <a:t>, which stands for Least Absolute Shrinkage and Selection Operator, is a statistical method used for feature selection and regularization in regression analysis.</a:t>
            </a:r>
          </a:p>
          <a:p>
            <a:pPr algn="just"/>
            <a:r>
              <a:rPr lang="en-US" sz="2400" dirty="0" smtClean="0"/>
              <a:t>In LASSO regression, a penalty term is added to the ordinary least squares (OLS) regression function, which penalizes large values of the coefficients, forcing them towards zero. The penalty term is proportional to the absolute value of the coefficients, resulting in a "shrinkage" of the coefficients towards zero. As a result, </a:t>
            </a:r>
            <a:r>
              <a:rPr lang="en-US" sz="2400" dirty="0" smtClean="0">
                <a:solidFill>
                  <a:srgbClr val="FF0000"/>
                </a:solidFill>
              </a:rPr>
              <a:t>LASSO</a:t>
            </a:r>
            <a:r>
              <a:rPr lang="en-US" sz="2400" dirty="0" smtClean="0"/>
              <a:t> can help to prevent Overfitting and improve the model's generalizability by reducing the variance of the model.</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1109960" cy="1066800"/>
          </a:xfrm>
        </p:spPr>
        <p:txBody>
          <a:bodyPr/>
          <a:lstStyle/>
          <a:p>
            <a:r>
              <a:rPr lang="en-US" dirty="0" smtClean="0"/>
              <a:t>LASSO</a:t>
            </a:r>
            <a:endParaRPr lang="en-US" dirty="0"/>
          </a:p>
        </p:txBody>
      </p:sp>
      <p:sp>
        <p:nvSpPr>
          <p:cNvPr id="3" name="Content Placeholder 2"/>
          <p:cNvSpPr>
            <a:spLocks noGrp="1"/>
          </p:cNvSpPr>
          <p:nvPr>
            <p:ph idx="1"/>
          </p:nvPr>
        </p:nvSpPr>
        <p:spPr/>
        <p:txBody>
          <a:bodyPr/>
          <a:lstStyle/>
          <a:p>
            <a:endParaRPr lang="en-US"/>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 name="Picture 1"/>
          <p:cNvPicPr>
            <a:picLocks noChangeAspect="1" noChangeArrowheads="1"/>
          </p:cNvPicPr>
          <p:nvPr/>
        </p:nvPicPr>
        <p:blipFill>
          <a:blip r:embed="rId3"/>
          <a:srcRect l="29010" t="19723" r="41692" b="53080"/>
          <a:stretch>
            <a:fillRect/>
          </a:stretch>
        </p:blipFill>
        <p:spPr bwMode="auto">
          <a:xfrm>
            <a:off x="381000" y="914400"/>
            <a:ext cx="6096000" cy="4495800"/>
          </a:xfrm>
          <a:prstGeom prst="rect">
            <a:avLst/>
          </a:prstGeom>
          <a:noFill/>
          <a:ln w="9525">
            <a:noFill/>
            <a:miter lim="800000"/>
            <a:headEnd/>
            <a:tailEnd/>
          </a:ln>
          <a:effectLst/>
        </p:spPr>
      </p:pic>
      <p:pic>
        <p:nvPicPr>
          <p:cNvPr id="7" name="Picture 2"/>
          <p:cNvPicPr>
            <a:picLocks noChangeAspect="1" noChangeArrowheads="1"/>
          </p:cNvPicPr>
          <p:nvPr/>
        </p:nvPicPr>
        <p:blipFill>
          <a:blip r:embed="rId3"/>
          <a:srcRect l="31875" t="46667" r="37500" b="8889"/>
          <a:stretch>
            <a:fillRect/>
          </a:stretch>
        </p:blipFill>
        <p:spPr bwMode="auto">
          <a:xfrm>
            <a:off x="6553200" y="914400"/>
            <a:ext cx="5410200" cy="457200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7586" name="Picture 2"/>
          <p:cNvPicPr>
            <a:picLocks noChangeAspect="1" noChangeArrowheads="1"/>
          </p:cNvPicPr>
          <p:nvPr/>
        </p:nvPicPr>
        <p:blipFill>
          <a:blip r:embed="rId3"/>
          <a:srcRect l="29375" t="24444" r="43542" b="42222"/>
          <a:stretch>
            <a:fillRect/>
          </a:stretch>
        </p:blipFill>
        <p:spPr bwMode="auto">
          <a:xfrm>
            <a:off x="152400" y="990600"/>
            <a:ext cx="5943600" cy="4114800"/>
          </a:xfrm>
          <a:prstGeom prst="rect">
            <a:avLst/>
          </a:prstGeom>
          <a:noFill/>
          <a:ln w="9525">
            <a:noFill/>
            <a:miter lim="800000"/>
            <a:headEnd/>
            <a:tailEnd/>
          </a:ln>
          <a:effectLst/>
        </p:spPr>
      </p:pic>
      <p:pic>
        <p:nvPicPr>
          <p:cNvPr id="67587" name="Picture 3"/>
          <p:cNvPicPr>
            <a:picLocks noChangeAspect="1" noChangeArrowheads="1"/>
          </p:cNvPicPr>
          <p:nvPr/>
        </p:nvPicPr>
        <p:blipFill>
          <a:blip r:embed="rId3"/>
          <a:srcRect l="28750" t="56667" r="55625" b="13333"/>
          <a:stretch>
            <a:fillRect/>
          </a:stretch>
        </p:blipFill>
        <p:spPr bwMode="auto">
          <a:xfrm>
            <a:off x="7467600" y="838200"/>
            <a:ext cx="4267200" cy="4608576"/>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a:t>
            </a:r>
            <a:endParaRPr lang="en-US" dirty="0"/>
          </a:p>
        </p:txBody>
      </p:sp>
      <p:sp>
        <p:nvSpPr>
          <p:cNvPr id="3" name="Content Placeholder 2"/>
          <p:cNvSpPr>
            <a:spLocks noGrp="1"/>
          </p:cNvSpPr>
          <p:nvPr>
            <p:ph idx="1"/>
          </p:nvPr>
        </p:nvSpPr>
        <p:spPr/>
        <p:txBody>
          <a:bodyPr>
            <a:normAutofit/>
          </a:bodyPr>
          <a:lstStyle/>
          <a:p>
            <a:pPr algn="just"/>
            <a:r>
              <a:rPr lang="en-US" sz="2400" b="1" dirty="0" smtClean="0">
                <a:solidFill>
                  <a:srgbClr val="FF0000"/>
                </a:solidFill>
              </a:rPr>
              <a:t>Decision Tree</a:t>
            </a:r>
            <a:r>
              <a:rPr lang="en-US" sz="2400" dirty="0" smtClean="0"/>
              <a:t> is the most powerful and popular tool for classification and prediction. A Decision tree is a flowchart-like tree structure, where each internal node denotes a test on an attribute, each branch represents an outcome of the test, and each leaf node (terminal node) holds a class label. </a:t>
            </a:r>
            <a:endParaRPr lang="en-US" sz="2400"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8611" name="Picture 3"/>
          <p:cNvPicPr>
            <a:picLocks noChangeAspect="1" noChangeArrowheads="1"/>
          </p:cNvPicPr>
          <p:nvPr/>
        </p:nvPicPr>
        <p:blipFill>
          <a:blip r:embed="rId3"/>
          <a:srcRect l="14375" t="24444" r="48125" b="23333"/>
          <a:stretch>
            <a:fillRect/>
          </a:stretch>
        </p:blipFill>
        <p:spPr bwMode="auto">
          <a:xfrm>
            <a:off x="4572000" y="3048000"/>
            <a:ext cx="3429000" cy="268605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9634" name="Picture 2"/>
          <p:cNvPicPr>
            <a:picLocks noChangeAspect="1" noChangeArrowheads="1"/>
          </p:cNvPicPr>
          <p:nvPr/>
        </p:nvPicPr>
        <p:blipFill>
          <a:blip r:embed="rId3"/>
          <a:srcRect l="20000" t="32222" r="28750" b="14444"/>
          <a:stretch>
            <a:fillRect/>
          </a:stretch>
        </p:blipFill>
        <p:spPr bwMode="auto">
          <a:xfrm>
            <a:off x="2133600" y="533400"/>
            <a:ext cx="8461375" cy="4953000"/>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Random Forest</a:t>
            </a:r>
            <a:endParaRPr lang="en-US" dirty="0">
              <a:solidFill>
                <a:srgbClr val="FF0000"/>
              </a:solidFill>
            </a:endParaRPr>
          </a:p>
        </p:txBody>
      </p:sp>
      <p:sp>
        <p:nvSpPr>
          <p:cNvPr id="3" name="Content Placeholder 2"/>
          <p:cNvSpPr>
            <a:spLocks noGrp="1"/>
          </p:cNvSpPr>
          <p:nvPr>
            <p:ph idx="1"/>
          </p:nvPr>
        </p:nvSpPr>
        <p:spPr/>
        <p:txBody>
          <a:bodyPr>
            <a:normAutofit/>
          </a:bodyPr>
          <a:lstStyle/>
          <a:p>
            <a:pPr algn="just"/>
            <a:r>
              <a:rPr lang="en-US" sz="2400" dirty="0" smtClean="0">
                <a:solidFill>
                  <a:srgbClr val="FF0000"/>
                </a:solidFill>
                <a:latin typeface="Arial" pitchFamily="34" charset="0"/>
                <a:cs typeface="Arial" pitchFamily="34" charset="0"/>
              </a:rPr>
              <a:t>Random Forest </a:t>
            </a:r>
            <a:r>
              <a:rPr lang="en-US" sz="2400" dirty="0" smtClean="0">
                <a:latin typeface="Arial" pitchFamily="34" charset="0"/>
                <a:cs typeface="Arial" pitchFamily="34" charset="0"/>
              </a:rPr>
              <a:t>is a popular machine learning algorithm used for both classification and regression tasks. It is an ensemble method that combines multiple decision trees to improve the predictive accuracy and reduce Overfitting.</a:t>
            </a:r>
          </a:p>
          <a:p>
            <a:pPr algn="just"/>
            <a:r>
              <a:rPr lang="en-US" sz="2400" dirty="0" smtClean="0">
                <a:latin typeface="Arial" pitchFamily="34" charset="0"/>
                <a:cs typeface="Arial" pitchFamily="34" charset="0"/>
              </a:rPr>
              <a:t>The basic idea of Random Forest is to build multiple decision trees using bootstrap samples of the training data and randomly selected subsets of the features. Each decision tree is trained on a different subset of the data and features, resulting in a diverse set of trees that collectively produce better predictions than any individual tree.</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7826" name="Picture 2" descr="Random Forest Regression in Python - Entri Blog"/>
          <p:cNvPicPr>
            <a:picLocks noChangeAspect="1" noChangeArrowheads="1"/>
          </p:cNvPicPr>
          <p:nvPr/>
        </p:nvPicPr>
        <p:blipFill>
          <a:blip r:embed="rId3"/>
          <a:srcRect/>
          <a:stretch>
            <a:fillRect/>
          </a:stretch>
        </p:blipFill>
        <p:spPr bwMode="auto">
          <a:xfrm>
            <a:off x="1676400" y="457200"/>
            <a:ext cx="9372600" cy="5272088"/>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6801" name="Picture 1"/>
          <p:cNvPicPr>
            <a:picLocks noChangeAspect="1" noChangeArrowheads="1"/>
          </p:cNvPicPr>
          <p:nvPr/>
        </p:nvPicPr>
        <p:blipFill>
          <a:blip r:embed="rId3"/>
          <a:srcRect l="18750" t="26667" r="29375" b="21111"/>
          <a:stretch>
            <a:fillRect/>
          </a:stretch>
        </p:blipFill>
        <p:spPr bwMode="auto">
          <a:xfrm>
            <a:off x="1752600" y="228600"/>
            <a:ext cx="9285051" cy="5257800"/>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SVM</a:t>
            </a:r>
            <a:r>
              <a:rPr lang="en-US" dirty="0" smtClean="0"/>
              <a:t>(</a:t>
            </a:r>
            <a:r>
              <a:rPr lang="en-US" dirty="0" smtClean="0">
                <a:latin typeface="Arial" pitchFamily="34" charset="0"/>
                <a:cs typeface="Arial" pitchFamily="34" charset="0"/>
              </a:rPr>
              <a:t>Support Vector Machines</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dirty="0" smtClean="0">
                <a:solidFill>
                  <a:srgbClr val="FF0000"/>
                </a:solidFill>
                <a:latin typeface="Arial" pitchFamily="34" charset="0"/>
                <a:cs typeface="Arial" pitchFamily="34" charset="0"/>
              </a:rPr>
              <a:t>SVM</a:t>
            </a:r>
            <a:r>
              <a:rPr lang="en-US" sz="2400" dirty="0" smtClean="0">
                <a:latin typeface="Arial" pitchFamily="34" charset="0"/>
                <a:cs typeface="Arial" pitchFamily="34" charset="0"/>
              </a:rPr>
              <a:t> stands for Support Vector Machines, which is a popular supervised machine learning algorithm used for classification and regression tasks. It works by finding the hyperplane that best separates the classes in the input space.</a:t>
            </a:r>
          </a:p>
          <a:p>
            <a:pPr algn="just"/>
            <a:r>
              <a:rPr lang="en-US" sz="2400" dirty="0" smtClean="0">
                <a:latin typeface="Arial" pitchFamily="34" charset="0"/>
                <a:cs typeface="Arial" pitchFamily="34" charset="0"/>
              </a:rPr>
              <a:t>In the case of binary classification, SVM tries to find the hyperplane that maximizes the margin, i.e., the distance between the hyperplane and the closest data points of each class. The data points that lie closest to the hyperplane are called support vectors, hence the name Support Vector Machines.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Grp="1" noChangeAspect="1" noChangeArrowheads="1"/>
          </p:cNvPicPr>
          <p:nvPr>
            <p:ph idx="1"/>
          </p:nvPr>
        </p:nvPicPr>
        <p:blipFill>
          <a:blip r:embed="rId2"/>
          <a:srcRect l="18546" t="18752" r="50000" b="36152"/>
          <a:stretch>
            <a:fillRect/>
          </a:stretch>
        </p:blipFill>
        <p:spPr bwMode="auto">
          <a:xfrm>
            <a:off x="2971800" y="381000"/>
            <a:ext cx="6425184" cy="5181600"/>
          </a:xfrm>
          <a:prstGeom prst="rect">
            <a:avLst/>
          </a:prstGeom>
          <a:noFill/>
          <a:ln w="9525">
            <a:noFill/>
            <a:miter lim="800000"/>
            <a:headEnd/>
            <a:tailEnd/>
          </a:ln>
          <a:effectLst/>
        </p:spPr>
      </p:pic>
      <p:sp>
        <p:nvSpPr>
          <p:cNvPr id="5" name="TextBox 4"/>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4753" name="Picture 1"/>
          <p:cNvPicPr>
            <a:picLocks noChangeAspect="1" noChangeArrowheads="1"/>
          </p:cNvPicPr>
          <p:nvPr/>
        </p:nvPicPr>
        <p:blipFill>
          <a:blip r:embed="rId3"/>
          <a:srcRect l="16875" t="23333" r="27500" b="22222"/>
          <a:stretch>
            <a:fillRect/>
          </a:stretch>
        </p:blipFill>
        <p:spPr bwMode="auto">
          <a:xfrm>
            <a:off x="1524000" y="533400"/>
            <a:ext cx="8996265" cy="4953000"/>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using Naive Bayes</a:t>
            </a:r>
            <a:endParaRPr lang="en-US" dirty="0"/>
          </a:p>
        </p:txBody>
      </p:sp>
      <p:sp>
        <p:nvSpPr>
          <p:cNvPr id="3" name="Content Placeholder 2"/>
          <p:cNvSpPr>
            <a:spLocks noGrp="1"/>
          </p:cNvSpPr>
          <p:nvPr>
            <p:ph idx="1"/>
          </p:nvPr>
        </p:nvSpPr>
        <p:spPr/>
        <p:txBody>
          <a:bodyPr>
            <a:normAutofit/>
          </a:bodyPr>
          <a:lstStyle/>
          <a:p>
            <a:pPr algn="just"/>
            <a:r>
              <a:rPr lang="en-US" sz="2400" dirty="0" smtClean="0">
                <a:latin typeface="Arial" pitchFamily="34" charset="0"/>
                <a:cs typeface="Arial" pitchFamily="34" charset="0"/>
              </a:rPr>
              <a:t>Naive Bayes is a probabilistic machine learning algorithm used for classification tasks. It is based on Bayes' theorem, which is a statistical rule that describes the probability of an event, based on prior knowledge of conditions that might be related to the event.</a:t>
            </a:r>
          </a:p>
          <a:p>
            <a:pPr algn="just"/>
            <a:r>
              <a:rPr lang="en-US" sz="2400" dirty="0" smtClean="0">
                <a:latin typeface="Arial" pitchFamily="34" charset="0"/>
                <a:cs typeface="Arial" pitchFamily="34" charset="0"/>
              </a:rPr>
              <a:t>The "naive" assumption in Naive Bayes is that the features are conditionally independent of each other given the class label. This means that the presence or absence of one feature does not affect the probability of the presence or absence of another feature, given the class label. Although this assumption is often violated in practice, Naive Bayes can still perform well in many cases and is computationally efficient.</a:t>
            </a:r>
          </a:p>
          <a:p>
            <a:endParaRPr lang="en-US" sz="2400" dirty="0" smtClean="0">
              <a:latin typeface="Arial" pitchFamily="34" charset="0"/>
              <a:cs typeface="Arial" pitchFamily="34" charset="0"/>
            </a:endParaRP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descr="Naive Bayes Classifier. The Naive Bayes Classifier technique is… | by ..."/>
          <p:cNvPicPr>
            <a:picLocks noChangeAspect="1" noChangeArrowheads="1"/>
          </p:cNvPicPr>
          <p:nvPr/>
        </p:nvPicPr>
        <p:blipFill>
          <a:blip r:embed="rId2"/>
          <a:srcRect/>
          <a:stretch>
            <a:fillRect/>
          </a:stretch>
        </p:blipFill>
        <p:spPr bwMode="auto">
          <a:xfrm>
            <a:off x="2438400" y="609600"/>
            <a:ext cx="7910848" cy="4800600"/>
          </a:xfrm>
          <a:prstGeom prst="rect">
            <a:avLst/>
          </a:prstGeom>
          <a:noFill/>
        </p:spPr>
      </p:pic>
      <p:sp>
        <p:nvSpPr>
          <p:cNvPr id="5" name="TextBox 4"/>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6" name="Picture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2705" name="Picture 1"/>
          <p:cNvPicPr>
            <a:picLocks noChangeAspect="1" noChangeArrowheads="1"/>
          </p:cNvPicPr>
          <p:nvPr/>
        </p:nvPicPr>
        <p:blipFill>
          <a:blip r:embed="rId3"/>
          <a:srcRect l="19375" t="27778" r="26875" b="17778"/>
          <a:stretch>
            <a:fillRect/>
          </a:stretch>
        </p:blipFill>
        <p:spPr bwMode="auto">
          <a:xfrm>
            <a:off x="1828800" y="533400"/>
            <a:ext cx="8693020" cy="49530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itchFamily="34" charset="0"/>
                <a:cs typeface="Arial" pitchFamily="34" charset="0"/>
              </a:rPr>
              <a:t>K-Nearest Neighbors (KNN)</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pPr algn="just"/>
            <a:r>
              <a:rPr lang="en-US" sz="2400" dirty="0" smtClean="0">
                <a:latin typeface="Arial" pitchFamily="34" charset="0"/>
                <a:cs typeface="Arial" pitchFamily="34" charset="0"/>
              </a:rPr>
              <a:t>K-Nearest Neighbors (KNN) is a simple and popular classification algorithm in machine learning. In KNN, a new data point is classified based on its proximity to the K nearest neighbors in the training data. The K nearest neighbors are determined based on a distance metric, such as Euclidean distance or Manhattan distance.</a:t>
            </a:r>
            <a:endParaRPr lang="en-US" sz="2400" dirty="0">
              <a:latin typeface="Arial" pitchFamily="34" charset="0"/>
              <a:cs typeface="Arial" pitchFamily="34" charset="0"/>
            </a:endParaRP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70658" name="Picture 2" descr="K-Nearest Neighbors (KNN) – Theory"/>
          <p:cNvPicPr>
            <a:picLocks noChangeAspect="1" noChangeArrowheads="1"/>
          </p:cNvPicPr>
          <p:nvPr/>
        </p:nvPicPr>
        <p:blipFill>
          <a:blip r:embed="rId3"/>
          <a:srcRect/>
          <a:stretch>
            <a:fillRect/>
          </a:stretch>
        </p:blipFill>
        <p:spPr bwMode="auto">
          <a:xfrm>
            <a:off x="1676400" y="914400"/>
            <a:ext cx="8839200" cy="4419600"/>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1026" name="Picture 2"/>
          <p:cNvPicPr>
            <a:picLocks noChangeAspect="1" noChangeArrowheads="1"/>
          </p:cNvPicPr>
          <p:nvPr/>
        </p:nvPicPr>
        <p:blipFill>
          <a:blip r:embed="rId3"/>
          <a:srcRect l="19375" t="23333" r="26875" b="20000"/>
          <a:stretch>
            <a:fillRect/>
          </a:stretch>
        </p:blipFill>
        <p:spPr bwMode="auto">
          <a:xfrm>
            <a:off x="1981200" y="457200"/>
            <a:ext cx="8737601" cy="5181600"/>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Evaluation </a:t>
            </a:r>
            <a:r>
              <a:rPr lang="en-US" dirty="0" smtClean="0"/>
              <a:t>metrics-RMSE(</a:t>
            </a:r>
            <a:r>
              <a:rPr lang="en-US" dirty="0" smtClean="0"/>
              <a:t>Root Mean Squared Error</a:t>
            </a:r>
            <a:r>
              <a:rPr lang="en-US" dirty="0" smtClean="0"/>
              <a:t>)</a:t>
            </a:r>
            <a:endParaRPr lang="en-US" dirty="0"/>
          </a:p>
        </p:txBody>
      </p:sp>
      <p:sp>
        <p:nvSpPr>
          <p:cNvPr id="3" name="Content Placeholder 2"/>
          <p:cNvSpPr>
            <a:spLocks noGrp="1"/>
          </p:cNvSpPr>
          <p:nvPr>
            <p:ph idx="1"/>
          </p:nvPr>
        </p:nvSpPr>
        <p:spPr/>
        <p:txBody>
          <a:bodyPr/>
          <a:lstStyle/>
          <a:p>
            <a:pPr algn="just"/>
            <a:r>
              <a:rPr lang="en-US" sz="2400" dirty="0" smtClean="0">
                <a:latin typeface="Arial" pitchFamily="34" charset="0"/>
                <a:cs typeface="Arial" pitchFamily="34" charset="0"/>
              </a:rPr>
              <a:t>RMSE stands for Root Mean Squared Error, which is a commonly used evaluation metric for regression problems. It measures the average difference between the predicted values and the actual values in a dataset.</a:t>
            </a:r>
          </a:p>
          <a:p>
            <a:pPr algn="just"/>
            <a:r>
              <a:rPr lang="en-US" sz="2400" dirty="0" smtClean="0">
                <a:latin typeface="Arial" pitchFamily="34" charset="0"/>
                <a:cs typeface="Arial" pitchFamily="34" charset="0"/>
              </a:rPr>
              <a:t>The formula for RMSE is:</a:t>
            </a:r>
          </a:p>
          <a:p>
            <a:pPr algn="just"/>
            <a:r>
              <a:rPr lang="en-US" sz="2400" dirty="0" smtClean="0">
                <a:latin typeface="Arial" pitchFamily="34" charset="0"/>
                <a:cs typeface="Arial" pitchFamily="34" charset="0"/>
              </a:rPr>
              <a:t>RMSE = sqrt((1/n) * sum((actual_value - predicted_value)^2</a:t>
            </a:r>
            <a:r>
              <a:rPr lang="en-US" sz="2400" dirty="0" smtClean="0">
                <a:latin typeface="Arial" pitchFamily="34" charset="0"/>
                <a:cs typeface="Arial" pitchFamily="34" charset="0"/>
              </a:rPr>
              <a:t>))</a:t>
            </a:r>
            <a:endParaRPr lang="en-US" sz="2400" dirty="0" smtClean="0">
              <a:latin typeface="Arial" pitchFamily="34" charset="0"/>
              <a:cs typeface="Arial" pitchFamily="34" charset="0"/>
            </a:endParaRPr>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2050" name="Picture 2"/>
          <p:cNvPicPr>
            <a:picLocks noChangeAspect="1" noChangeArrowheads="1"/>
          </p:cNvPicPr>
          <p:nvPr/>
        </p:nvPicPr>
        <p:blipFill>
          <a:blip r:embed="rId3"/>
          <a:srcRect l="19375" t="22222" r="31625" b="15556"/>
          <a:stretch>
            <a:fillRect/>
          </a:stretch>
        </p:blipFill>
        <p:spPr bwMode="auto">
          <a:xfrm>
            <a:off x="2438400" y="304800"/>
            <a:ext cx="7467600" cy="5334000"/>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MSE(</a:t>
            </a:r>
            <a:r>
              <a:rPr lang="en-US" dirty="0" smtClean="0"/>
              <a:t>Mean Squared Error</a:t>
            </a:r>
            <a:r>
              <a:rPr lang="en-US" dirty="0" smtClean="0"/>
              <a:t>)</a:t>
            </a:r>
            <a:endParaRPr lang="en-US" dirty="0"/>
          </a:p>
        </p:txBody>
      </p:sp>
      <p:sp>
        <p:nvSpPr>
          <p:cNvPr id="3" name="Content Placeholder 2"/>
          <p:cNvSpPr>
            <a:spLocks noGrp="1"/>
          </p:cNvSpPr>
          <p:nvPr>
            <p:ph idx="1"/>
          </p:nvPr>
        </p:nvSpPr>
        <p:spPr/>
        <p:txBody>
          <a:bodyPr/>
          <a:lstStyle/>
          <a:p>
            <a:pPr algn="just"/>
            <a:r>
              <a:rPr lang="en-US" sz="2400" dirty="0" smtClean="0">
                <a:latin typeface="Arial" pitchFamily="34" charset="0"/>
                <a:cs typeface="Arial" pitchFamily="34" charset="0"/>
              </a:rPr>
              <a:t>MSE stands for Mean Squared Error, which is another commonly used evaluation metric for regression problems. It measures the average squared difference between the predicted values and the actual values in a dataset.</a:t>
            </a:r>
          </a:p>
          <a:p>
            <a:pPr algn="just"/>
            <a:r>
              <a:rPr lang="en-US" sz="2400" dirty="0" smtClean="0">
                <a:latin typeface="Arial" pitchFamily="34" charset="0"/>
                <a:cs typeface="Arial" pitchFamily="34" charset="0"/>
              </a:rPr>
              <a:t>The formula for MSE is:</a:t>
            </a:r>
          </a:p>
          <a:p>
            <a:pPr algn="just"/>
            <a:r>
              <a:rPr lang="en-US" sz="2400" dirty="0" smtClean="0">
                <a:latin typeface="Arial" pitchFamily="34" charset="0"/>
                <a:cs typeface="Arial" pitchFamily="34" charset="0"/>
              </a:rPr>
              <a:t>MSE = (1/n) * sum((actual_value - predicted_value)^2)</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3074" name="Picture 2"/>
          <p:cNvPicPr>
            <a:picLocks noChangeAspect="1" noChangeArrowheads="1"/>
          </p:cNvPicPr>
          <p:nvPr/>
        </p:nvPicPr>
        <p:blipFill>
          <a:blip r:embed="rId3"/>
          <a:srcRect l="18125" t="40000" r="40625" b="15556"/>
          <a:stretch>
            <a:fillRect/>
          </a:stretch>
        </p:blipFill>
        <p:spPr bwMode="auto">
          <a:xfrm>
            <a:off x="1981200" y="685800"/>
            <a:ext cx="8423910" cy="5105400"/>
          </a:xfrm>
          <a:prstGeom prst="rect">
            <a:avLst/>
          </a:prstGeom>
          <a:noFill/>
          <a:ln w="9525">
            <a:noFill/>
            <a:miter lim="800000"/>
            <a:headEnd/>
            <a:tailEnd/>
          </a:ln>
          <a:effec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Precision</a:t>
            </a:r>
            <a:endParaRPr lang="en-US" dirty="0"/>
          </a:p>
        </p:txBody>
      </p:sp>
      <p:sp>
        <p:nvSpPr>
          <p:cNvPr id="3" name="Content Placeholder 2"/>
          <p:cNvSpPr>
            <a:spLocks noGrp="1"/>
          </p:cNvSpPr>
          <p:nvPr>
            <p:ph idx="1"/>
          </p:nvPr>
        </p:nvSpPr>
        <p:spPr/>
        <p:txBody>
          <a:bodyPr/>
          <a:lstStyle/>
          <a:p>
            <a:pPr algn="just"/>
            <a:r>
              <a:rPr lang="en-US" sz="2400" dirty="0" smtClean="0">
                <a:latin typeface="Arial" pitchFamily="34" charset="0"/>
                <a:cs typeface="Arial" pitchFamily="34" charset="0"/>
              </a:rPr>
              <a:t>Precision is a metric that is commonly used to evaluate the performance of a binary classification model. It measures the proportion of true positive predictions out of all the positive predictions made by the model. In other words, it measures how accurate the model is when it predicts the positive class</a:t>
            </a:r>
            <a:r>
              <a:rPr lang="en-US" sz="2400" dirty="0" smtClean="0">
                <a:latin typeface="Arial" pitchFamily="34" charset="0"/>
                <a:cs typeface="Arial" pitchFamily="34" charset="0"/>
              </a:rPr>
              <a:t>.</a:t>
            </a:r>
          </a:p>
          <a:p>
            <a:pPr algn="just"/>
            <a:r>
              <a:rPr lang="en-US" sz="2400" dirty="0" smtClean="0">
                <a:latin typeface="Arial" pitchFamily="34" charset="0"/>
                <a:cs typeface="Arial" pitchFamily="34" charset="0"/>
              </a:rPr>
              <a:t>Precision = True Positives / (True Positives + False Positives)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4098" name="Picture 2"/>
          <p:cNvPicPr>
            <a:picLocks noChangeAspect="1" noChangeArrowheads="1"/>
          </p:cNvPicPr>
          <p:nvPr/>
        </p:nvPicPr>
        <p:blipFill>
          <a:blip r:embed="rId3"/>
          <a:srcRect l="18125" t="34444" r="36250" b="6667"/>
          <a:stretch>
            <a:fillRect/>
          </a:stretch>
        </p:blipFill>
        <p:spPr bwMode="auto">
          <a:xfrm>
            <a:off x="2209799" y="228600"/>
            <a:ext cx="7556739" cy="5486400"/>
          </a:xfrm>
          <a:prstGeom prst="rect">
            <a:avLst/>
          </a:prstGeom>
          <a:noFill/>
          <a:ln w="9525">
            <a:noFill/>
            <a:miter lim="800000"/>
            <a:headEnd/>
            <a:tailEnd/>
          </a:ln>
          <a:effec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Recall</a:t>
            </a:r>
            <a:endParaRPr lang="en-US" dirty="0"/>
          </a:p>
        </p:txBody>
      </p:sp>
      <p:sp>
        <p:nvSpPr>
          <p:cNvPr id="3" name="Content Placeholder 2"/>
          <p:cNvSpPr>
            <a:spLocks noGrp="1"/>
          </p:cNvSpPr>
          <p:nvPr>
            <p:ph idx="1"/>
          </p:nvPr>
        </p:nvSpPr>
        <p:spPr/>
        <p:txBody>
          <a:bodyPr/>
          <a:lstStyle/>
          <a:p>
            <a:pPr algn="just"/>
            <a:r>
              <a:rPr lang="en-US" sz="2400" dirty="0" smtClean="0">
                <a:latin typeface="Arial" pitchFamily="34" charset="0"/>
                <a:cs typeface="Arial" pitchFamily="34" charset="0"/>
              </a:rPr>
              <a:t>Recall is another commonly used metric to evaluate the performance of a binary classification model. It measures the proportion of true positive predictions out of all the actual positive instances in the data. In other words, it measures how well </a:t>
            </a:r>
            <a:r>
              <a:rPr lang="en-US" sz="2400" dirty="0" smtClean="0">
                <a:latin typeface="Arial" pitchFamily="34" charset="0"/>
                <a:cs typeface="Arial" pitchFamily="34" charset="0"/>
              </a:rPr>
              <a:t>the </a:t>
            </a:r>
            <a:r>
              <a:rPr lang="en-US" sz="2400" dirty="0" smtClean="0">
                <a:latin typeface="Arial" pitchFamily="34" charset="0"/>
                <a:cs typeface="Arial" pitchFamily="34" charset="0"/>
              </a:rPr>
              <a:t>model is able to identify positive instances</a:t>
            </a:r>
            <a:r>
              <a:rPr lang="en-US" sz="2400" dirty="0" smtClean="0">
                <a:latin typeface="Arial" pitchFamily="34" charset="0"/>
                <a:cs typeface="Arial" pitchFamily="34" charset="0"/>
              </a:rPr>
              <a:t>.</a:t>
            </a:r>
            <a:endParaRPr lang="en-US" sz="2400" dirty="0" smtClean="0">
              <a:latin typeface="Arial" pitchFamily="34" charset="0"/>
              <a:cs typeface="Arial" pitchFamily="34" charset="0"/>
            </a:endParaRPr>
          </a:p>
          <a:p>
            <a:pPr algn="just"/>
            <a:r>
              <a:rPr lang="en-US" sz="2400" dirty="0" smtClean="0">
                <a:latin typeface="Arial" pitchFamily="34" charset="0"/>
                <a:cs typeface="Arial" pitchFamily="34" charset="0"/>
              </a:rPr>
              <a:t>Recall = True Positives / (True Positives + False Negatives)</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5122" name="Picture 2"/>
          <p:cNvPicPr>
            <a:picLocks noChangeAspect="1" noChangeArrowheads="1"/>
          </p:cNvPicPr>
          <p:nvPr/>
        </p:nvPicPr>
        <p:blipFill>
          <a:blip r:embed="rId3"/>
          <a:srcRect l="18125" t="23333" r="35000" b="17778"/>
          <a:stretch>
            <a:fillRect/>
          </a:stretch>
        </p:blipFill>
        <p:spPr bwMode="auto">
          <a:xfrm>
            <a:off x="2362200" y="152400"/>
            <a:ext cx="8001000" cy="5654040"/>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F-measure</a:t>
            </a:r>
            <a:endParaRPr lang="en-US" dirty="0"/>
          </a:p>
        </p:txBody>
      </p:sp>
      <p:sp>
        <p:nvSpPr>
          <p:cNvPr id="3" name="Content Placeholder 2"/>
          <p:cNvSpPr>
            <a:spLocks noGrp="1"/>
          </p:cNvSpPr>
          <p:nvPr>
            <p:ph idx="1"/>
          </p:nvPr>
        </p:nvSpPr>
        <p:spPr/>
        <p:txBody>
          <a:bodyPr/>
          <a:lstStyle/>
          <a:p>
            <a:r>
              <a:rPr lang="en-US" dirty="0" smtClean="0"/>
              <a:t>F-measure, also known as F1-score, is another metric commonly used to evaluate the performance of a binary classification model. It is a harmonic mean of precision and recall, which balances both metrics.</a:t>
            </a:r>
          </a:p>
          <a:p>
            <a:r>
              <a:rPr lang="en-US" dirty="0" smtClean="0"/>
              <a:t>Here's the formula for F-measure:</a:t>
            </a:r>
          </a:p>
          <a:p>
            <a:r>
              <a:rPr lang="en-US" dirty="0" smtClean="0"/>
              <a:t>F1-score = 2 * (precision * recall) / (precision + recall)</a:t>
            </a:r>
          </a:p>
          <a:p>
            <a:endParaRPr lang="en-US"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pic>
        <p:nvPicPr>
          <p:cNvPr id="6146" name="Picture 2"/>
          <p:cNvPicPr>
            <a:picLocks noChangeAspect="1" noChangeArrowheads="1"/>
          </p:cNvPicPr>
          <p:nvPr/>
        </p:nvPicPr>
        <p:blipFill>
          <a:blip r:embed="rId3"/>
          <a:srcRect l="18750" t="22222" r="40625" b="8889"/>
          <a:stretch>
            <a:fillRect/>
          </a:stretch>
        </p:blipFill>
        <p:spPr bwMode="auto">
          <a:xfrm>
            <a:off x="2743200" y="304800"/>
            <a:ext cx="7772400" cy="5562600"/>
          </a:xfrm>
          <a:prstGeom prst="rect">
            <a:avLst/>
          </a:prstGeom>
          <a:noFill/>
          <a:ln w="9525">
            <a:noFill/>
            <a:miter lim="800000"/>
            <a:headEnd/>
            <a:tailEnd/>
          </a:ln>
          <a:effec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r>
              <a:rPr lang="en-US" sz="13800" dirty="0" smtClean="0"/>
              <a:t>   Thank you</a:t>
            </a:r>
            <a:endParaRPr lang="en-US" sz="13800" dirty="0"/>
          </a:p>
        </p:txBody>
      </p:sp>
      <p:sp>
        <p:nvSpPr>
          <p:cNvPr id="4" name="TextBox 3"/>
          <p:cNvSpPr txBox="1"/>
          <p:nvPr/>
        </p:nvSpPr>
        <p:spPr>
          <a:xfrm>
            <a:off x="2743199" y="5954722"/>
            <a:ext cx="9601201" cy="446078"/>
          </a:xfrm>
          <a:prstGeom prst="rect">
            <a:avLst/>
          </a:prstGeom>
          <a:solidFill>
            <a:srgbClr val="FF0000"/>
          </a:solidFill>
          <a:ln>
            <a:solidFill>
              <a:srgbClr val="EA0000"/>
            </a:solidFill>
          </a:ln>
        </p:spPr>
        <p:txBody>
          <a:bodyPr wrap="square" lIns="121725" tIns="60862" rIns="121725" bIns="60862" rtlCol="0">
            <a:spAutoFit/>
          </a:bodyPr>
          <a:lstStyle/>
          <a:p>
            <a:r>
              <a:rPr lang="en-US" sz="2100" b="1" dirty="0"/>
              <a:t>www.brainybeam.com                           </a:t>
            </a:r>
            <a:r>
              <a:rPr lang="en-US" sz="2100" b="1" dirty="0" smtClean="0"/>
              <a:t>                             Email </a:t>
            </a:r>
            <a:r>
              <a:rPr lang="en-US" sz="2100" b="1" dirty="0"/>
              <a:t>Id: sagar@brainybeam.in</a:t>
            </a:r>
          </a:p>
        </p:txBody>
      </p:sp>
      <p:pic>
        <p:nvPicPr>
          <p:cNvPr id="5" name="Picture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0" y="5657045"/>
            <a:ext cx="2667000" cy="7437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1531</TotalTime>
  <Words>2273</Words>
  <Application>Microsoft Office PowerPoint</Application>
  <PresentationFormat>Custom</PresentationFormat>
  <Paragraphs>176</Paragraphs>
  <Slides>79</Slides>
  <Notes>0</Notes>
  <HiddenSlides>0</HiddenSlides>
  <MMClips>0</MMClips>
  <ScaleCrop>false</ScaleCrop>
  <HeadingPairs>
    <vt:vector size="4" baseType="variant">
      <vt:variant>
        <vt:lpstr>Theme</vt:lpstr>
      </vt:variant>
      <vt:variant>
        <vt:i4>1</vt:i4>
      </vt:variant>
      <vt:variant>
        <vt:lpstr>Slide Titles</vt:lpstr>
      </vt:variant>
      <vt:variant>
        <vt:i4>79</vt:i4>
      </vt:variant>
    </vt:vector>
  </HeadingPairs>
  <TitlesOfParts>
    <vt:vector size="80" baseType="lpstr">
      <vt:lpstr>Office Theme</vt:lpstr>
      <vt:lpstr>Slide 1</vt:lpstr>
      <vt:lpstr>1.Data Structure and Mathematical Operations using NumPy </vt:lpstr>
      <vt:lpstr>Slide 3</vt:lpstr>
      <vt:lpstr>Slide 4</vt:lpstr>
      <vt:lpstr>Analyzing ,Cleaning ,Exploration &amp; Manipulation of data using Pandas</vt:lpstr>
      <vt:lpstr>Slide 6</vt:lpstr>
      <vt:lpstr>Slide 7</vt:lpstr>
      <vt:lpstr>Slide 8</vt:lpstr>
      <vt:lpstr>Encoding Techniques- Label Encoding &amp; One-hot Encoder</vt:lpstr>
      <vt:lpstr>Slide 10</vt:lpstr>
      <vt:lpstr>Slide 11</vt:lpstr>
      <vt:lpstr>Slide 12</vt:lpstr>
      <vt:lpstr>Slide 13</vt:lpstr>
      <vt:lpstr>Interactive visualization using Matplotlib</vt:lpstr>
      <vt:lpstr>Slide 15</vt:lpstr>
      <vt:lpstr>Slide 16</vt:lpstr>
      <vt:lpstr>Slide 17</vt:lpstr>
      <vt:lpstr>Slide 18</vt:lpstr>
      <vt:lpstr>Slide 19</vt:lpstr>
      <vt:lpstr>Normalization Techniques: Min-Max Scaler, MaxAbsScaler ,RobustScaler  &amp; Standard Scaler</vt:lpstr>
      <vt:lpstr>Slide 21</vt:lpstr>
      <vt:lpstr>Slide 22</vt:lpstr>
      <vt:lpstr>Slide 23</vt:lpstr>
      <vt:lpstr>Slide 24</vt:lpstr>
      <vt:lpstr>Slide 25</vt:lpstr>
      <vt:lpstr>Slide 26</vt:lpstr>
      <vt:lpstr>Slide 27</vt:lpstr>
      <vt:lpstr>Slide 28</vt:lpstr>
      <vt:lpstr>Statistical Graphical using Seaborn</vt:lpstr>
      <vt:lpstr>Slide 30</vt:lpstr>
      <vt:lpstr>Slide 31</vt:lpstr>
      <vt:lpstr>Slide 32</vt:lpstr>
      <vt:lpstr>Slide 33</vt:lpstr>
      <vt:lpstr>Sentiment analysis &amp; Topic Classification and Relationship Extraction using NLP</vt:lpstr>
      <vt:lpstr>Slide 35</vt:lpstr>
      <vt:lpstr>Slide 36</vt:lpstr>
      <vt:lpstr>Slide 37</vt:lpstr>
      <vt:lpstr>Slide 38</vt:lpstr>
      <vt:lpstr>Slide 39</vt:lpstr>
      <vt:lpstr>Slide 40</vt:lpstr>
      <vt:lpstr>Feature Extraction using LDA &amp; TF-IDF</vt:lpstr>
      <vt:lpstr>Slide 42</vt:lpstr>
      <vt:lpstr>Slide 43</vt:lpstr>
      <vt:lpstr>Slide 44</vt:lpstr>
      <vt:lpstr>Statistical Modelling using SkLearn</vt:lpstr>
      <vt:lpstr>RFM Analysis</vt:lpstr>
      <vt:lpstr>Slide 47</vt:lpstr>
      <vt:lpstr>Slide 48</vt:lpstr>
      <vt:lpstr>Regression using Linear Regression</vt:lpstr>
      <vt:lpstr>Slide 50</vt:lpstr>
      <vt:lpstr>Slide 51</vt:lpstr>
      <vt:lpstr>What is LASSO</vt:lpstr>
      <vt:lpstr>LASSO</vt:lpstr>
      <vt:lpstr>Slide 54</vt:lpstr>
      <vt:lpstr>Decision Tree</vt:lpstr>
      <vt:lpstr>Slide 56</vt:lpstr>
      <vt:lpstr>Random Forest</vt:lpstr>
      <vt:lpstr>Slide 58</vt:lpstr>
      <vt:lpstr>Slide 59</vt:lpstr>
      <vt:lpstr>SVM(Support Vector Machines)</vt:lpstr>
      <vt:lpstr>Slide 61</vt:lpstr>
      <vt:lpstr>Slide 62</vt:lpstr>
      <vt:lpstr>Classification using Naive Bayes</vt:lpstr>
      <vt:lpstr>Slide 64</vt:lpstr>
      <vt:lpstr>Slide 65</vt:lpstr>
      <vt:lpstr>K-Nearest Neighbors (KNN)</vt:lpstr>
      <vt:lpstr>Slide 67</vt:lpstr>
      <vt:lpstr>Slide 68</vt:lpstr>
      <vt:lpstr>Evaluation metrics-RMSE(Root Mean Squared Error)</vt:lpstr>
      <vt:lpstr>Slide 70</vt:lpstr>
      <vt:lpstr>MSE(Mean Squared Error)</vt:lpstr>
      <vt:lpstr>Slide 72</vt:lpstr>
      <vt:lpstr>Precision</vt:lpstr>
      <vt:lpstr>Slide 74</vt:lpstr>
      <vt:lpstr>Recall</vt:lpstr>
      <vt:lpstr>Slide 76</vt:lpstr>
      <vt:lpstr>F-measure</vt:lpstr>
      <vt:lpstr>Slide 78</vt:lpstr>
      <vt:lpstr>Slide 79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Ankit</dc:creator>
  <cp:lastModifiedBy>Ankit</cp:lastModifiedBy>
  <cp:revision>141</cp:revision>
  <dcterms:created xsi:type="dcterms:W3CDTF">2023-05-03T05:23:14Z</dcterms:created>
  <dcterms:modified xsi:type="dcterms:W3CDTF">2023-05-06T07:35:37Z</dcterms:modified>
</cp:coreProperties>
</file>